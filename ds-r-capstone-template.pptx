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38"/>
  </p:notesMasterIdLst>
  <p:sldIdLst>
    <p:sldId id="256" r:id="rId5"/>
    <p:sldId id="259" r:id="rId6"/>
    <p:sldId id="260" r:id="rId7"/>
    <p:sldId id="261" r:id="rId8"/>
    <p:sldId id="262" r:id="rId9"/>
    <p:sldId id="298" r:id="rId10"/>
    <p:sldId id="263" r:id="rId11"/>
    <p:sldId id="264" r:id="rId12"/>
    <p:sldId id="265" r:id="rId13"/>
    <p:sldId id="266" r:id="rId14"/>
    <p:sldId id="293" r:id="rId15"/>
    <p:sldId id="276" r:id="rId16"/>
    <p:sldId id="277" r:id="rId17"/>
    <p:sldId id="278" r:id="rId18"/>
    <p:sldId id="270" r:id="rId19"/>
    <p:sldId id="279" r:id="rId20"/>
    <p:sldId id="280" r:id="rId21"/>
    <p:sldId id="281" r:id="rId22"/>
    <p:sldId id="282" r:id="rId23"/>
    <p:sldId id="283" r:id="rId24"/>
    <p:sldId id="284" r:id="rId25"/>
    <p:sldId id="269" r:id="rId26"/>
    <p:sldId id="285" r:id="rId27"/>
    <p:sldId id="286" r:id="rId28"/>
    <p:sldId id="288" r:id="rId29"/>
    <p:sldId id="267" r:id="rId30"/>
    <p:sldId id="290" r:id="rId31"/>
    <p:sldId id="291" r:id="rId32"/>
    <p:sldId id="294" r:id="rId33"/>
    <p:sldId id="295" r:id="rId34"/>
    <p:sldId id="296" r:id="rId35"/>
    <p:sldId id="297" r:id="rId36"/>
    <p:sldId id="274" r:id="rId37"/>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6483"/>
    <a:srgbClr val="145579"/>
    <a:srgbClr val="204E79"/>
    <a:srgbClr val="005493"/>
    <a:srgbClr val="F8F9FA"/>
    <a:srgbClr val="F2F2F2"/>
    <a:srgbClr val="121619"/>
    <a:srgbClr val="F7F3F2"/>
    <a:srgbClr val="F6F2FF"/>
    <a:srgbClr val="EDF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77"/>
    <p:restoredTop sz="96327"/>
  </p:normalViewPr>
  <p:slideViewPr>
    <p:cSldViewPr snapToGrid="0">
      <p:cViewPr varScale="1">
        <p:scale>
          <a:sx n="82" d="100"/>
          <a:sy n="82" d="100"/>
        </p:scale>
        <p:origin x="1099"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2291758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a:p>
        </p:txBody>
      </p:sp>
    </p:spTree>
    <p:extLst>
      <p:ext uri="{BB962C8B-B14F-4D97-AF65-F5344CB8AC3E}">
        <p14:creationId xmlns:p14="http://schemas.microsoft.com/office/powerpoint/2010/main" val="2157594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3</a:t>
            </a:fld>
            <a:endParaRPr lang="en-US"/>
          </a:p>
        </p:txBody>
      </p:sp>
    </p:spTree>
    <p:extLst>
      <p:ext uri="{BB962C8B-B14F-4D97-AF65-F5344CB8AC3E}">
        <p14:creationId xmlns:p14="http://schemas.microsoft.com/office/powerpoint/2010/main" val="3962741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4</a:t>
            </a:fld>
            <a:endParaRPr lang="en-US"/>
          </a:p>
        </p:txBody>
      </p:sp>
    </p:spTree>
    <p:extLst>
      <p:ext uri="{BB962C8B-B14F-4D97-AF65-F5344CB8AC3E}">
        <p14:creationId xmlns:p14="http://schemas.microsoft.com/office/powerpoint/2010/main" val="3473882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5</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13</a:t>
            </a:fld>
            <a:endParaRPr lang="en-US"/>
          </a:p>
        </p:txBody>
      </p:sp>
    </p:spTree>
    <p:extLst>
      <p:ext uri="{BB962C8B-B14F-4D97-AF65-F5344CB8AC3E}">
        <p14:creationId xmlns:p14="http://schemas.microsoft.com/office/powerpoint/2010/main" val="3924966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1168401"/>
            <a:ext cx="6431280" cy="2387600"/>
          </a:xfr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t>Click to edit Master title style</a:t>
            </a:r>
          </a:p>
        </p:txBody>
      </p:sp>
      <p:sp>
        <p:nvSpPr>
          <p:cNvPr id="3" name="Subtitle 2"/>
          <p:cNvSpPr>
            <a:spLocks noGrp="1"/>
          </p:cNvSpPr>
          <p:nvPr>
            <p:ph type="subTitle" idx="1"/>
          </p:nvPr>
        </p:nvSpPr>
        <p:spPr>
          <a:xfrm>
            <a:off x="2880360" y="3731247"/>
            <a:ext cx="6431280" cy="1655762"/>
          </a:xfrm>
        </p:spPr>
        <p:txBody>
          <a:bodyPr/>
          <a:lstStyle>
            <a:lvl1pPr marL="0" indent="0" algn="ctr">
              <a:buNone/>
              <a:defRPr sz="2400" b="1">
                <a:solidFill>
                  <a:srgbClr val="00B0F0"/>
                </a:solidFill>
                <a:latin typeface="IBM Plex Mono Text" panose="020B05090502030002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8" name="Straight Connector 7"/>
          <p:cNvCxnSpPr/>
          <p:nvPr/>
        </p:nvCxnSpPr>
        <p:spPr>
          <a:xfrm>
            <a:off x="2880360" y="3649111"/>
            <a:ext cx="643128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8200" y="1690688"/>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p:nvCxnSpPr>
        <p:spPr>
          <a:xfrm>
            <a:off x="838200" y="1296645"/>
            <a:ext cx="10515600" cy="368"/>
          </a:xfrm>
          <a:prstGeom prst="line">
            <a:avLst/>
          </a:prstGeom>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5BC0E935-029C-474F-849D-E85C929A394D}"/>
              </a:ext>
            </a:extLst>
          </p:cNvPr>
          <p:cNvSpPr>
            <a:spLocks noGrp="1"/>
          </p:cNvSpPr>
          <p:nvPr>
            <p:ph type="ftr" sz="quarter" idx="10"/>
          </p:nvPr>
        </p:nvSpPr>
        <p:spPr/>
        <p:txBody>
          <a:bodyPr/>
          <a:lstStyle/>
          <a:p>
            <a:endParaRPr lang="en-US"/>
          </a:p>
        </p:txBody>
      </p:sp>
      <p:sp>
        <p:nvSpPr>
          <p:cNvPr id="6" name="Slide Number Placeholder 4">
            <a:extLst>
              <a:ext uri="{FF2B5EF4-FFF2-40B4-BE49-F238E27FC236}">
                <a16:creationId xmlns:a16="http://schemas.microsoft.com/office/drawing/2014/main" id="{C3C2D4B7-423C-B64C-91C2-024ACCB718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149702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Footer Placeholder 3">
            <a:extLst>
              <a:ext uri="{FF2B5EF4-FFF2-40B4-BE49-F238E27FC236}">
                <a16:creationId xmlns:a16="http://schemas.microsoft.com/office/drawing/2014/main" id="{5B9BDB4F-B51D-4F43-96CA-8769EDF75C69}"/>
              </a:ext>
            </a:extLst>
          </p:cNvPr>
          <p:cNvSpPr>
            <a:spLocks noGrp="1"/>
          </p:cNvSpPr>
          <p:nvPr>
            <p:ph type="ftr" sz="quarter" idx="10"/>
          </p:nvPr>
        </p:nvSpPr>
        <p:spPr/>
        <p:txBody>
          <a:bodyPr/>
          <a:lstStyle/>
          <a:p>
            <a:endParaRPr lang="en-US"/>
          </a:p>
        </p:txBody>
      </p:sp>
      <p:sp>
        <p:nvSpPr>
          <p:cNvPr id="5" name="Slide Number Placeholder 4">
            <a:extLst>
              <a:ext uri="{FF2B5EF4-FFF2-40B4-BE49-F238E27FC236}">
                <a16:creationId xmlns:a16="http://schemas.microsoft.com/office/drawing/2014/main" id="{F623911B-C823-8F4D-A0F5-678EB8BD44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2344850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p:cNvCxnSpPr/>
          <p:nvPr/>
        </p:nvCxnSpPr>
        <p:spPr>
          <a:xfrm>
            <a:off x="838200" y="1364249"/>
            <a:ext cx="10515600" cy="368"/>
          </a:xfrm>
          <a:prstGeom prst="line">
            <a:avLst/>
          </a:prstGeom>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B52AEBD-6719-CA48-A235-34A6A378C01D}"/>
              </a:ext>
            </a:extLst>
          </p:cNvPr>
          <p:cNvSpPr>
            <a:spLocks noGrp="1"/>
          </p:cNvSpPr>
          <p:nvPr>
            <p:ph type="ftr" sz="quarter" idx="10"/>
          </p:nvPr>
        </p:nvSpPr>
        <p:spPr/>
        <p:txBody>
          <a:bodyPr/>
          <a:lstStyle/>
          <a:p>
            <a:endParaRPr lang="en-US"/>
          </a:p>
        </p:txBody>
      </p:sp>
      <p:sp>
        <p:nvSpPr>
          <p:cNvPr id="7" name="Slide Number Placeholder 4">
            <a:extLst>
              <a:ext uri="{FF2B5EF4-FFF2-40B4-BE49-F238E27FC236}">
                <a16:creationId xmlns:a16="http://schemas.microsoft.com/office/drawing/2014/main" id="{98C3F149-D0F5-7E45-848F-762B0FD06F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2871343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34ECAB-8CA0-8D40-836C-AEE5AE3C1E57}"/>
              </a:ext>
            </a:extLst>
          </p:cNvPr>
          <p:cNvSpPr>
            <a:spLocks noGrp="1"/>
          </p:cNvSpPr>
          <p:nvPr>
            <p:ph type="ftr" sz="quarter" idx="10"/>
          </p:nvPr>
        </p:nvSpPr>
        <p:spPr/>
        <p:txBody>
          <a:bodyPr/>
          <a:lstStyle/>
          <a:p>
            <a:endParaRPr lang="en-US"/>
          </a:p>
        </p:txBody>
      </p:sp>
      <p:sp>
        <p:nvSpPr>
          <p:cNvPr id="8" name="Slide Number Placeholder 4">
            <a:extLst>
              <a:ext uri="{FF2B5EF4-FFF2-40B4-BE49-F238E27FC236}">
                <a16:creationId xmlns:a16="http://schemas.microsoft.com/office/drawing/2014/main" id="{408FA7A2-4D43-AB48-A94E-BD374D2F9E2B}"/>
              </a:ext>
            </a:extLst>
          </p:cNvPr>
          <p:cNvSpPr>
            <a:spLocks noGrp="1"/>
          </p:cNvSpPr>
          <p:nvPr>
            <p:ph type="sldNum" sz="quarter" idx="11"/>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222735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330E991E-C6E4-4C46-9375-F85058052C3A}"/>
              </a:ext>
            </a:extLst>
          </p:cNvPr>
          <p:cNvSpPr>
            <a:spLocks noGrp="1"/>
          </p:cNvSpPr>
          <p:nvPr>
            <p:ph type="ftr" sz="quarter" idx="10"/>
          </p:nvPr>
        </p:nvSpPr>
        <p:spPr/>
        <p:txBody>
          <a:bodyPr/>
          <a:lstStyle/>
          <a:p>
            <a:endParaRPr lang="en-US"/>
          </a:p>
        </p:txBody>
      </p:sp>
      <p:sp>
        <p:nvSpPr>
          <p:cNvPr id="4" name="Slide Number Placeholder 4">
            <a:extLst>
              <a:ext uri="{FF2B5EF4-FFF2-40B4-BE49-F238E27FC236}">
                <a16:creationId xmlns:a16="http://schemas.microsoft.com/office/drawing/2014/main" id="{A376D9B7-3A9C-D24B-88D8-068A87AB99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793464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p:txBody>
          <a:bodyPr/>
          <a:lstStyle/>
          <a:p>
            <a:endParaRPr lang="en-US"/>
          </a:p>
        </p:txBody>
      </p:sp>
      <p:sp>
        <p:nvSpPr>
          <p:cNvPr id="8" name="Slide Number Placeholder 4">
            <a:extLst>
              <a:ext uri="{FF2B5EF4-FFF2-40B4-BE49-F238E27FC236}">
                <a16:creationId xmlns:a16="http://schemas.microsoft.com/office/drawing/2014/main" id="{B1E8E1F9-7A9B-3449-8ED0-2CC545C3AF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1173270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6B86EE8-15CB-0841-AED8-6AFB3623AA36}"/>
              </a:ext>
            </a:extLst>
          </p:cNvPr>
          <p:cNvSpPr>
            <a:spLocks noGrp="1"/>
          </p:cNvSpPr>
          <p:nvPr>
            <p:ph type="ftr" sz="quarter" idx="10"/>
          </p:nvPr>
        </p:nvSpPr>
        <p:spPr/>
        <p:txBody>
          <a:bodyPr/>
          <a:lstStyle/>
          <a:p>
            <a:endParaRPr lang="en-US"/>
          </a:p>
        </p:txBody>
      </p:sp>
      <p:sp>
        <p:nvSpPr>
          <p:cNvPr id="4" name="Title 3">
            <a:extLst>
              <a:ext uri="{FF2B5EF4-FFF2-40B4-BE49-F238E27FC236}">
                <a16:creationId xmlns:a16="http://schemas.microsoft.com/office/drawing/2014/main" id="{89A9D453-43AB-0442-A49F-B782F2B71F66}"/>
              </a:ext>
            </a:extLst>
          </p:cNvPr>
          <p:cNvSpPr>
            <a:spLocks noGrp="1"/>
          </p:cNvSpPr>
          <p:nvPr>
            <p:ph type="title"/>
          </p:nvPr>
        </p:nvSpPr>
        <p:spPr/>
        <p:txBody>
          <a:bodyPr/>
          <a:lstStyle/>
          <a:p>
            <a:r>
              <a:rPr lang="en-US"/>
              <a:t>Click to edit Master title style</a:t>
            </a:r>
          </a:p>
        </p:txBody>
      </p:sp>
      <p:sp>
        <p:nvSpPr>
          <p:cNvPr id="7" name="Slide Number Placeholder 4">
            <a:extLst>
              <a:ext uri="{FF2B5EF4-FFF2-40B4-BE49-F238E27FC236}">
                <a16:creationId xmlns:a16="http://schemas.microsoft.com/office/drawing/2014/main" id="{0B22B678-4D42-8747-A390-2C0A371BBB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2396091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atin typeface="IBM Plex Mono SemiBold" panose="020B0709050203000203" pitchFamily="49" charset="0"/>
              </a:defRPr>
            </a:lvl1pPr>
            <a:lvl2pPr>
              <a:defRPr sz="2800">
                <a:latin typeface="IBM Plex Mono Text" panose="020B0509050203000203" pitchFamily="49" charset="0"/>
              </a:defRPr>
            </a:lvl2pPr>
            <a:lvl3pPr>
              <a:defRPr sz="2400">
                <a:latin typeface="IBM Plex Mono Text" panose="020B0509050203000203" pitchFamily="49" charset="0"/>
              </a:defRPr>
            </a:lvl3pPr>
            <a:lvl4pPr>
              <a:defRPr sz="2000">
                <a:latin typeface="IBM Plex Mono Text" panose="020B0509050203000203" pitchFamily="49" charset="0"/>
              </a:defRPr>
            </a:lvl4pPr>
            <a:lvl5pPr>
              <a:defRPr sz="2000">
                <a:latin typeface="IBM Plex Mono Text" panose="020B0509050203000203" pitchFamily="49"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IBM Plex Mono Text" panose="020B0509050203000203" pitchFamily="49"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A256499B-5FDB-F84A-AF4B-03DAC2E6E5D8}"/>
              </a:ext>
            </a:extLst>
          </p:cNvPr>
          <p:cNvSpPr>
            <a:spLocks noGrp="1"/>
          </p:cNvSpPr>
          <p:nvPr>
            <p:ph type="ftr" sz="quarter" idx="10"/>
          </p:nvPr>
        </p:nvSpPr>
        <p:spPr/>
        <p:txBody>
          <a:bodyPr/>
          <a:lstStyle/>
          <a:p>
            <a:endParaRPr lang="en-US"/>
          </a:p>
        </p:txBody>
      </p:sp>
      <p:sp>
        <p:nvSpPr>
          <p:cNvPr id="6" name="Slide Number Placeholder 4">
            <a:extLst>
              <a:ext uri="{FF2B5EF4-FFF2-40B4-BE49-F238E27FC236}">
                <a16:creationId xmlns:a16="http://schemas.microsoft.com/office/drawing/2014/main" id="{0E0738B2-6D3A-4648-87C8-A0DA877187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1186066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IBM Plex Mono SemiBold" panose="020B0709050203000203" pitchFamily="49" charset="0"/>
              </a:defRPr>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IBM Plex Mono Text" panose="020B0509050203000203" pitchFamily="49"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3209FBAC-BC43-174B-8362-DF782CBFF321}"/>
              </a:ext>
            </a:extLst>
          </p:cNvPr>
          <p:cNvSpPr>
            <a:spLocks noGrp="1"/>
          </p:cNvSpPr>
          <p:nvPr>
            <p:ph type="ftr" sz="quarter" idx="10"/>
          </p:nvPr>
        </p:nvSpPr>
        <p:spPr/>
        <p:txBody>
          <a:bodyPr/>
          <a:lstStyle/>
          <a:p>
            <a:endParaRPr lang="en-US"/>
          </a:p>
        </p:txBody>
      </p:sp>
      <p:sp>
        <p:nvSpPr>
          <p:cNvPr id="6" name="Slide Number Placeholder 4">
            <a:extLst>
              <a:ext uri="{FF2B5EF4-FFF2-40B4-BE49-F238E27FC236}">
                <a16:creationId xmlns:a16="http://schemas.microsoft.com/office/drawing/2014/main" id="{925C29AF-D985-5942-8A28-146269103D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1639268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IBM Plex Mono SemiBold" panose="020B0709050203000203" pitchFamily="49"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IBM Plex Mono Text" panose="020B0509050203000203" pitchFamily="49" charset="0"/>
              </a:defRPr>
            </a:lvl1pPr>
            <a:lvl2pPr>
              <a:defRPr>
                <a:latin typeface="IBM Plex Mono Text" panose="020B0509050203000203" pitchFamily="49" charset="0"/>
              </a:defRPr>
            </a:lvl2pPr>
            <a:lvl3pPr>
              <a:defRPr>
                <a:latin typeface="IBM Plex Mono Text" panose="020B0509050203000203" pitchFamily="49" charset="0"/>
              </a:defRPr>
            </a:lvl3pPr>
            <a:lvl4pPr>
              <a:defRPr>
                <a:latin typeface="IBM Plex Mono Text" panose="020B0509050203000203" pitchFamily="49" charset="0"/>
              </a:defRPr>
            </a:lvl4pPr>
            <a:lvl5pPr>
              <a:defRPr>
                <a:latin typeface="IBM Plex Mono Text" panose="020B0509050203000203"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CBDEB9FB-F8F4-7F4F-87A4-883C7116ED18}"/>
              </a:ext>
            </a:extLst>
          </p:cNvPr>
          <p:cNvSpPr>
            <a:spLocks noGrp="1"/>
          </p:cNvSpPr>
          <p:nvPr>
            <p:ph type="ftr" sz="quarter" idx="10"/>
          </p:nvPr>
        </p:nvSpPr>
        <p:spPr/>
        <p:txBody>
          <a:bodyPr/>
          <a:lstStyle/>
          <a:p>
            <a:endParaRPr lang="en-US"/>
          </a:p>
        </p:txBody>
      </p:sp>
      <p:sp>
        <p:nvSpPr>
          <p:cNvPr id="5" name="Slide Number Placeholder 4">
            <a:extLst>
              <a:ext uri="{FF2B5EF4-FFF2-40B4-BE49-F238E27FC236}">
                <a16:creationId xmlns:a16="http://schemas.microsoft.com/office/drawing/2014/main" id="{BE290D7B-2B6B-2D45-B68E-903BB49D94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614706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p:txBody>
          <a:bodyPr/>
          <a:lstStyle/>
          <a:p>
            <a:endParaRPr lang="en-US"/>
          </a:p>
        </p:txBody>
      </p:sp>
      <p:sp>
        <p:nvSpPr>
          <p:cNvPr id="5" name="Slide Number Placeholder 4">
            <a:extLst>
              <a:ext uri="{FF2B5EF4-FFF2-40B4-BE49-F238E27FC236}">
                <a16:creationId xmlns:a16="http://schemas.microsoft.com/office/drawing/2014/main" id="{F94ED4FE-13CD-604D-B272-7D2568F4C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1725687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DE05F500-14B4-8946-9E21-29BD8481122E}"/>
              </a:ext>
            </a:extLst>
          </p:cNvPr>
          <p:cNvSpPr>
            <a:spLocks noGrp="1"/>
          </p:cNvSpPr>
          <p:nvPr>
            <p:ph type="ftr" sz="quarter" idx="3"/>
          </p:nvPr>
        </p:nvSpPr>
        <p:spPr>
          <a:xfrm>
            <a:off x="838200" y="631031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5" name="Slide Number Placeholder 4">
            <a:extLst>
              <a:ext uri="{FF2B5EF4-FFF2-40B4-BE49-F238E27FC236}">
                <a16:creationId xmlns:a16="http://schemas.microsoft.com/office/drawing/2014/main" id="{5AAD88E1-0250-A14B-9448-FAF34C49C0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5537C-CA84-1446-933C-8E9D027F9201}" type="slidenum">
              <a:rPr lang="en-US" smtClean="0"/>
              <a:t>‹#›</a:t>
            </a:fld>
            <a:endParaRPr lang="en-US"/>
          </a:p>
        </p:txBody>
      </p:sp>
    </p:spTree>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973FE-1F8B-4DED-8DC0-71E987678976}"/>
              </a:ext>
            </a:extLst>
          </p:cNvPr>
          <p:cNvSpPr>
            <a:spLocks noGrp="1"/>
          </p:cNvSpPr>
          <p:nvPr>
            <p:ph type="ctrTitle"/>
          </p:nvPr>
        </p:nvSpPr>
        <p:spPr/>
        <p:txBody>
          <a:bodyPr>
            <a:normAutofit/>
          </a:bodyPr>
          <a:lstStyle/>
          <a:p>
            <a:r>
              <a:rPr lang="en-US" dirty="0">
                <a:solidFill>
                  <a:schemeClr val="tx1"/>
                </a:solidFill>
              </a:rPr>
              <a:t>Applied Data Science with R Capstone project</a:t>
            </a:r>
          </a:p>
        </p:txBody>
      </p:sp>
      <p:sp>
        <p:nvSpPr>
          <p:cNvPr id="3" name="Subtitle 2">
            <a:extLst>
              <a:ext uri="{FF2B5EF4-FFF2-40B4-BE49-F238E27FC236}">
                <a16:creationId xmlns:a16="http://schemas.microsoft.com/office/drawing/2014/main" id="{93383873-F31C-4E31-B4BA-B40D502705CE}"/>
              </a:ext>
            </a:extLst>
          </p:cNvPr>
          <p:cNvSpPr>
            <a:spLocks noGrp="1"/>
          </p:cNvSpPr>
          <p:nvPr>
            <p:ph type="subTitle" idx="1"/>
          </p:nvPr>
        </p:nvSpPr>
        <p:spPr/>
        <p:txBody>
          <a:bodyPr/>
          <a:lstStyle/>
          <a:p>
            <a:r>
              <a:rPr lang="en-US" dirty="0"/>
              <a:t>Devin Guigley</a:t>
            </a:r>
          </a:p>
          <a:p>
            <a:r>
              <a:rPr lang="en-US" dirty="0"/>
              <a:t>4/21/2026</a:t>
            </a:r>
          </a:p>
        </p:txBody>
      </p:sp>
    </p:spTree>
    <p:extLst>
      <p:ext uri="{BB962C8B-B14F-4D97-AF65-F5344CB8AC3E}">
        <p14:creationId xmlns:p14="http://schemas.microsoft.com/office/powerpoint/2010/main" val="3237914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p:txBody>
          <a:bodyPr/>
          <a:lstStyle/>
          <a:p>
            <a:r>
              <a:rPr lang="en-US" dirty="0"/>
              <a:t>Outline</a:t>
            </a:r>
          </a:p>
        </p:txBody>
      </p:sp>
      <p:pic>
        <p:nvPicPr>
          <p:cNvPr id="14" name="Picture 13">
            <a:extLst>
              <a:ext uri="{FF2B5EF4-FFF2-40B4-BE49-F238E27FC236}">
                <a16:creationId xmlns:a16="http://schemas.microsoft.com/office/drawing/2014/main" id="{AB620004-7A7B-1846-B8F9-E034BB7BD9FB}"/>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15" name="Content Placeholder 2">
            <a:extLst>
              <a:ext uri="{FF2B5EF4-FFF2-40B4-BE49-F238E27FC236}">
                <a16:creationId xmlns:a16="http://schemas.microsoft.com/office/drawing/2014/main" id="{1E754898-2E75-F643-867F-EE5BE8F1580A}"/>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r>
              <a:rPr lang="en-US" sz="2200" dirty="0"/>
              <a:t>Conclusion</a:t>
            </a:r>
          </a:p>
          <a:p>
            <a:r>
              <a:rPr lang="en-US" sz="2200" dirty="0"/>
              <a:t>Appendix</a:t>
            </a:r>
          </a:p>
        </p:txBody>
      </p:sp>
      <p:sp>
        <p:nvSpPr>
          <p:cNvPr id="4" name="Slide Number Placeholder 3">
            <a:extLst>
              <a:ext uri="{FF2B5EF4-FFF2-40B4-BE49-F238E27FC236}">
                <a16:creationId xmlns:a16="http://schemas.microsoft.com/office/drawing/2014/main" id="{4AEA7475-929A-3C43-8710-21F8972039C8}"/>
              </a:ext>
            </a:extLst>
          </p:cNvPr>
          <p:cNvSpPr>
            <a:spLocks noGrp="1"/>
          </p:cNvSpPr>
          <p:nvPr>
            <p:ph type="sldNum" sz="quarter" idx="4"/>
          </p:nvPr>
        </p:nvSpPr>
        <p:spPr/>
        <p:txBody>
          <a:bodyPr/>
          <a:lstStyle/>
          <a:p>
            <a:fld id="{5075537C-CA84-1446-933C-8E9D027F9201}" type="slidenum">
              <a:rPr lang="en-US" smtClean="0"/>
              <a:t>2</a:t>
            </a:fld>
            <a:endParaRPr lang="en-US"/>
          </a:p>
        </p:txBody>
      </p:sp>
    </p:spTree>
    <p:extLst>
      <p:ext uri="{BB962C8B-B14F-4D97-AF65-F5344CB8AC3E}">
        <p14:creationId xmlns:p14="http://schemas.microsoft.com/office/powerpoint/2010/main" val="4219535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p:txBody>
          <a:bodyPr/>
          <a:lstStyle/>
          <a:p>
            <a:r>
              <a:rPr lang="en-US" dirty="0"/>
              <a:t>Executive Summary</a:t>
            </a:r>
          </a:p>
        </p:txBody>
      </p:sp>
      <p:sp>
        <p:nvSpPr>
          <p:cNvPr id="5" name="Content Placeholder 2">
            <a:extLst>
              <a:ext uri="{FF2B5EF4-FFF2-40B4-BE49-F238E27FC236}">
                <a16:creationId xmlns:a16="http://schemas.microsoft.com/office/drawing/2014/main" id="{A41CA137-23BE-D343-A99F-678FC4485915}"/>
              </a:ext>
            </a:extLst>
          </p:cNvPr>
          <p:cNvSpPr txBox="1">
            <a:spLocks/>
          </p:cNvSpPr>
          <p:nvPr/>
        </p:nvSpPr>
        <p:spPr>
          <a:xfrm>
            <a:off x="4285075" y="1825624"/>
            <a:ext cx="7068725" cy="4465447"/>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From the analysis, it was shown that the following two factors are most important when determining bike sharing demand:</a:t>
            </a:r>
          </a:p>
          <a:p>
            <a:pPr lvl="1"/>
            <a:r>
              <a:rPr lang="en-US" sz="1800" dirty="0"/>
              <a:t>Bike share demand is higher in the summer months because of the better weather; specifically, warmer temperatures and no snow.</a:t>
            </a:r>
          </a:p>
          <a:p>
            <a:pPr lvl="1"/>
            <a:r>
              <a:rPr lang="en-US" sz="1800" dirty="0"/>
              <a:t>Bike share demand is highest in the evening hours between 1700 and 2200. Most likely because this is when temperatures have just finished peaking for the day, and people are finishing work to return home or to go out.</a:t>
            </a:r>
          </a:p>
        </p:txBody>
      </p:sp>
      <p:pic>
        <p:nvPicPr>
          <p:cNvPr id="6" name="Picture 5">
            <a:extLst>
              <a:ext uri="{FF2B5EF4-FFF2-40B4-BE49-F238E27FC236}">
                <a16:creationId xmlns:a16="http://schemas.microsoft.com/office/drawing/2014/main" id="{E4BF18C2-9175-0F42-907F-F0BF5659D2DB}"/>
              </a:ext>
            </a:extLst>
          </p:cNvPr>
          <p:cNvPicPr>
            <a:picLocks noChangeAspect="1"/>
          </p:cNvPicPr>
          <p:nvPr/>
        </p:nvPicPr>
        <p:blipFill>
          <a:blip r:embed="rId3"/>
          <a:stretch>
            <a:fillRect/>
          </a:stretch>
        </p:blipFill>
        <p:spPr>
          <a:xfrm>
            <a:off x="1090494" y="2302762"/>
            <a:ext cx="3194581" cy="3194581"/>
          </a:xfrm>
          <a:prstGeom prst="rect">
            <a:avLst/>
          </a:prstGeom>
        </p:spPr>
      </p:pic>
      <p:sp>
        <p:nvSpPr>
          <p:cNvPr id="4" name="Slide Number Placeholder 3">
            <a:extLst>
              <a:ext uri="{FF2B5EF4-FFF2-40B4-BE49-F238E27FC236}">
                <a16:creationId xmlns:a16="http://schemas.microsoft.com/office/drawing/2014/main" id="{8D4F58D4-A60E-214E-8C16-CD93F57F9918}"/>
              </a:ext>
            </a:extLst>
          </p:cNvPr>
          <p:cNvSpPr>
            <a:spLocks noGrp="1"/>
          </p:cNvSpPr>
          <p:nvPr>
            <p:ph type="sldNum" sz="quarter" idx="4"/>
          </p:nvPr>
        </p:nvSpPr>
        <p:spPr/>
        <p:txBody>
          <a:bodyPr/>
          <a:lstStyle/>
          <a:p>
            <a:fld id="{5075537C-CA84-1446-933C-8E9D027F9201}" type="slidenum">
              <a:rPr lang="en-US" smtClean="0"/>
              <a:t>3</a:t>
            </a:fld>
            <a:endParaRPr lang="en-US"/>
          </a:p>
        </p:txBody>
      </p:sp>
    </p:spTree>
    <p:extLst>
      <p:ext uri="{BB962C8B-B14F-4D97-AF65-F5344CB8AC3E}">
        <p14:creationId xmlns:p14="http://schemas.microsoft.com/office/powerpoint/2010/main" val="886073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p:txBody>
          <a:bodyPr/>
          <a:lstStyle/>
          <a:p>
            <a:r>
              <a:rPr lang="en-US" dirty="0"/>
              <a:t>Introduction</a:t>
            </a:r>
          </a:p>
        </p:txBody>
      </p:sp>
      <p:pic>
        <p:nvPicPr>
          <p:cNvPr id="7" name="Picture 6">
            <a:extLst>
              <a:ext uri="{FF2B5EF4-FFF2-40B4-BE49-F238E27FC236}">
                <a16:creationId xmlns:a16="http://schemas.microsoft.com/office/drawing/2014/main" id="{F57D2AAC-90A4-4846-970F-EEFF077D0406}"/>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4285075"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The purpose of this analysis was to identify what causes the most demand for users to use bike-share bicycles</a:t>
            </a:r>
          </a:p>
          <a:p>
            <a:r>
              <a:rPr lang="en-US" sz="2200" dirty="0"/>
              <a:t>The two leading factors looked into were:</a:t>
            </a:r>
          </a:p>
          <a:p>
            <a:pPr lvl="1"/>
            <a:r>
              <a:rPr lang="en-US" sz="1400" dirty="0"/>
              <a:t>Weather</a:t>
            </a:r>
          </a:p>
          <a:p>
            <a:pPr lvl="1"/>
            <a:r>
              <a:rPr lang="en-US" sz="1400" dirty="0"/>
              <a:t>Time of day</a:t>
            </a:r>
          </a:p>
        </p:txBody>
      </p:sp>
      <p:sp>
        <p:nvSpPr>
          <p:cNvPr id="4" name="Slide Number Placeholder 3">
            <a:extLst>
              <a:ext uri="{FF2B5EF4-FFF2-40B4-BE49-F238E27FC236}">
                <a16:creationId xmlns:a16="http://schemas.microsoft.com/office/drawing/2014/main" id="{A311C53D-47D8-7B4A-B568-D9C50E110CC0}"/>
              </a:ext>
            </a:extLst>
          </p:cNvPr>
          <p:cNvSpPr>
            <a:spLocks noGrp="1"/>
          </p:cNvSpPr>
          <p:nvPr>
            <p:ph type="sldNum" sz="quarter" idx="4"/>
          </p:nvPr>
        </p:nvSpPr>
        <p:spPr/>
        <p:txBody>
          <a:bodyPr/>
          <a:lstStyle/>
          <a:p>
            <a:fld id="{5075537C-CA84-1446-933C-8E9D027F9201}" type="slidenum">
              <a:rPr lang="en-US" smtClean="0"/>
              <a:t>4</a:t>
            </a:fld>
            <a:endParaRPr lang="en-US"/>
          </a:p>
        </p:txBody>
      </p:sp>
    </p:spTree>
    <p:extLst>
      <p:ext uri="{BB962C8B-B14F-4D97-AF65-F5344CB8AC3E}">
        <p14:creationId xmlns:p14="http://schemas.microsoft.com/office/powerpoint/2010/main" val="3053275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p:txBody>
          <a:bodyPr/>
          <a:lstStyle/>
          <a:p>
            <a:r>
              <a:rPr lang="en-US" dirty="0"/>
              <a:t>Methodology</a:t>
            </a:r>
          </a:p>
        </p:txBody>
      </p:sp>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4285075"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Perform data collection</a:t>
            </a:r>
          </a:p>
          <a:p>
            <a:r>
              <a:rPr lang="en-US" sz="2200" dirty="0"/>
              <a:t>Perform data wrangling</a:t>
            </a:r>
          </a:p>
          <a:p>
            <a:r>
              <a:rPr lang="en-US" sz="2200" dirty="0"/>
              <a:t>Perform exploratory data analysis (EDA) using SQL and visualization</a:t>
            </a:r>
          </a:p>
          <a:p>
            <a:r>
              <a:rPr lang="en-US" sz="2200" dirty="0"/>
              <a:t>Perform predictive analysis using regression models</a:t>
            </a:r>
          </a:p>
          <a:p>
            <a:pPr lvl="1"/>
            <a:r>
              <a:rPr lang="en-US" sz="1800" dirty="0"/>
              <a:t>How to build the baseline model</a:t>
            </a:r>
          </a:p>
          <a:p>
            <a:pPr lvl="1"/>
            <a:r>
              <a:rPr lang="en-US" sz="1800" dirty="0"/>
              <a:t>How to improve the baseline model</a:t>
            </a:r>
          </a:p>
          <a:p>
            <a:r>
              <a:rPr lang="en-US" sz="2200" dirty="0"/>
              <a:t>Build a R Shiny dashboard app</a:t>
            </a:r>
          </a:p>
        </p:txBody>
      </p:sp>
      <p:pic>
        <p:nvPicPr>
          <p:cNvPr id="5" name="Picture 4">
            <a:extLst>
              <a:ext uri="{FF2B5EF4-FFF2-40B4-BE49-F238E27FC236}">
                <a16:creationId xmlns:a16="http://schemas.microsoft.com/office/drawing/2014/main" id="{D67BC1C6-7E6A-1F48-8526-B99806B6E370}"/>
              </a:ext>
            </a:extLst>
          </p:cNvPr>
          <p:cNvPicPr>
            <a:picLocks noChangeAspect="1"/>
          </p:cNvPicPr>
          <p:nvPr/>
        </p:nvPicPr>
        <p:blipFill>
          <a:blip r:embed="rId3"/>
          <a:stretch>
            <a:fillRect/>
          </a:stretch>
        </p:blipFill>
        <p:spPr>
          <a:xfrm>
            <a:off x="979655" y="1831709"/>
            <a:ext cx="3194581" cy="3194581"/>
          </a:xfrm>
          <a:prstGeom prst="rect">
            <a:avLst/>
          </a:prstGeom>
        </p:spPr>
      </p:pic>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4"/>
          </p:nvPr>
        </p:nvSpPr>
        <p:spPr/>
        <p:txBody>
          <a:bodyPr/>
          <a:lstStyle/>
          <a:p>
            <a:fld id="{5075537C-CA84-1446-933C-8E9D027F9201}" type="slidenum">
              <a:rPr lang="en-US" smtClean="0"/>
              <a:t>5</a:t>
            </a:fld>
            <a:endParaRPr lang="en-US"/>
          </a:p>
        </p:txBody>
      </p:sp>
    </p:spTree>
    <p:extLst>
      <p:ext uri="{BB962C8B-B14F-4D97-AF65-F5344CB8AC3E}">
        <p14:creationId xmlns:p14="http://schemas.microsoft.com/office/powerpoint/2010/main" val="1553432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918F41-388B-9F49-B083-9363E48C4D6D}"/>
              </a:ext>
            </a:extLst>
          </p:cNvPr>
          <p:cNvSpPr>
            <a:spLocks noGrp="1"/>
          </p:cNvSpPr>
          <p:nvPr>
            <p:ph type="title"/>
          </p:nvPr>
        </p:nvSpPr>
        <p:spPr/>
        <p:txBody>
          <a:bodyPr/>
          <a:lstStyle/>
          <a:p>
            <a:r>
              <a:rPr lang="en-US" dirty="0"/>
              <a:t>Methodology</a:t>
            </a:r>
          </a:p>
        </p:txBody>
      </p:sp>
      <p:sp>
        <p:nvSpPr>
          <p:cNvPr id="5" name="Text Placeholder 4">
            <a:extLst>
              <a:ext uri="{FF2B5EF4-FFF2-40B4-BE49-F238E27FC236}">
                <a16:creationId xmlns:a16="http://schemas.microsoft.com/office/drawing/2014/main" id="{1FACB35F-F761-AD43-A90D-CCA232A9EE9C}"/>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4"/>
          </p:nvPr>
        </p:nvSpPr>
        <p:spPr/>
        <p:txBody>
          <a:bodyPr/>
          <a:lstStyle/>
          <a:p>
            <a:fld id="{5075537C-CA84-1446-933C-8E9D027F9201}" type="slidenum">
              <a:rPr lang="en-US" smtClean="0"/>
              <a:t>6</a:t>
            </a:fld>
            <a:endParaRPr lang="en-US"/>
          </a:p>
        </p:txBody>
      </p:sp>
    </p:spTree>
    <p:extLst>
      <p:ext uri="{BB962C8B-B14F-4D97-AF65-F5344CB8AC3E}">
        <p14:creationId xmlns:p14="http://schemas.microsoft.com/office/powerpoint/2010/main" val="3093198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153192"/>
            <a:ext cx="10515600" cy="1325563"/>
          </a:xfrm>
        </p:spPr>
        <p:txBody>
          <a:bodyPr/>
          <a:lstStyle/>
          <a:p>
            <a:r>
              <a:rPr lang="en-US" dirty="0"/>
              <a:t>Data collection</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1"/>
          </p:nvPr>
        </p:nvSpPr>
        <p:spPr/>
        <p:txBody>
          <a:bodyPr>
            <a:normAutofit/>
          </a:bodyPr>
          <a:lstStyle/>
          <a:p>
            <a:r>
              <a:rPr lang="en-US" dirty="0"/>
              <a:t>Data was collected by performing web-scraping from Wikipedia to collect tables of information and by importing data from an API to get real-time weather data.</a:t>
            </a:r>
          </a:p>
          <a:p>
            <a:endParaRPr lang="en-US" dirty="0"/>
          </a:p>
        </p:txBody>
      </p:sp>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4"/>
          </p:nvPr>
        </p:nvSpPr>
        <p:spPr/>
        <p:txBody>
          <a:bodyPr/>
          <a:lstStyle/>
          <a:p>
            <a:fld id="{5075537C-CA84-1446-933C-8E9D027F9201}" type="slidenum">
              <a:rPr lang="en-US" smtClean="0"/>
              <a:t>7</a:t>
            </a:fld>
            <a:endParaRPr lang="en-US"/>
          </a:p>
        </p:txBody>
      </p:sp>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153192"/>
            <a:ext cx="10515600" cy="1325563"/>
          </a:xfrm>
        </p:spPr>
        <p:txBody>
          <a:bodyPr/>
          <a:lstStyle/>
          <a:p>
            <a:r>
              <a:rPr lang="en-US" dirty="0"/>
              <a:t>Data wrangling</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1"/>
          </p:nvPr>
        </p:nvSpPr>
        <p:spPr/>
        <p:txBody>
          <a:bodyPr/>
          <a:lstStyle/>
          <a:p>
            <a:r>
              <a:rPr lang="en-US" dirty="0"/>
              <a:t>After collecting data, data had to be cleaned.</a:t>
            </a:r>
          </a:p>
          <a:p>
            <a:pPr lvl="1"/>
            <a:r>
              <a:rPr lang="en-US" dirty="0"/>
              <a:t>Column names were standardized across datasets</a:t>
            </a:r>
          </a:p>
          <a:p>
            <a:pPr lvl="1"/>
            <a:r>
              <a:rPr lang="en-US" dirty="0"/>
              <a:t>Data types had to be corrected and undesired reference links from the Wikipedia page had to be removed</a:t>
            </a:r>
          </a:p>
          <a:p>
            <a:pPr lvl="1"/>
            <a:r>
              <a:rPr lang="en-US" dirty="0"/>
              <a:t>Numeric data had to be cleaned of any extra characters</a:t>
            </a:r>
          </a:p>
          <a:p>
            <a:pPr lvl="1"/>
            <a:r>
              <a:rPr lang="en-US" dirty="0"/>
              <a:t>Missing values were removed from the datasets or replaced with average values</a:t>
            </a:r>
          </a:p>
          <a:p>
            <a:pPr lvl="1"/>
            <a:r>
              <a:rPr lang="en-US" dirty="0"/>
              <a:t>Categorical dummy values were used for categorical columns</a:t>
            </a:r>
          </a:p>
          <a:p>
            <a:pPr lvl="1"/>
            <a:r>
              <a:rPr lang="en-US" dirty="0"/>
              <a:t>Data was normalized to avoid bias</a:t>
            </a:r>
          </a:p>
        </p:txBody>
      </p:sp>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4"/>
          </p:nvPr>
        </p:nvSpPr>
        <p:spPr/>
        <p:txBody>
          <a:bodyPr/>
          <a:lstStyle/>
          <a:p>
            <a:fld id="{5075537C-CA84-1446-933C-8E9D027F9201}" type="slidenum">
              <a:rPr lang="en-US" smtClean="0"/>
              <a:t>8</a:t>
            </a:fld>
            <a:endParaRPr lang="en-US"/>
          </a:p>
        </p:txBody>
      </p:sp>
    </p:spTree>
    <p:extLst>
      <p:ext uri="{BB962C8B-B14F-4D97-AF65-F5344CB8AC3E}">
        <p14:creationId xmlns:p14="http://schemas.microsoft.com/office/powerpoint/2010/main" val="2987552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80454"/>
            <a:ext cx="10515600" cy="1325563"/>
          </a:xfrm>
        </p:spPr>
        <p:txBody>
          <a:bodyPr/>
          <a:lstStyle/>
          <a:p>
            <a:r>
              <a:rPr lang="en-US" dirty="0"/>
              <a:t>EDA with SQL</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1"/>
          </p:nvPr>
        </p:nvSpPr>
        <p:spPr/>
        <p:txBody>
          <a:bodyPr>
            <a:normAutofit fontScale="92500" lnSpcReduction="10000"/>
          </a:bodyPr>
          <a:lstStyle/>
          <a:p>
            <a:r>
              <a:rPr lang="en-US" dirty="0"/>
              <a:t>SQL database queries were performed to find the following information:</a:t>
            </a:r>
          </a:p>
          <a:p>
            <a:pPr lvl="1"/>
            <a:r>
              <a:rPr lang="en-US" dirty="0"/>
              <a:t>Perform a record count</a:t>
            </a:r>
          </a:p>
          <a:p>
            <a:pPr lvl="1"/>
            <a:r>
              <a:rPr lang="en-US" dirty="0"/>
              <a:t>Determine operational hours</a:t>
            </a:r>
          </a:p>
          <a:p>
            <a:pPr lvl="1"/>
            <a:r>
              <a:rPr lang="en-US" dirty="0"/>
              <a:t>Get the weather outlook in Seoul for the next three hours</a:t>
            </a:r>
          </a:p>
          <a:p>
            <a:pPr lvl="1"/>
            <a:r>
              <a:rPr lang="en-US" dirty="0"/>
              <a:t>Identify the seasons included in the bike sharing dataset</a:t>
            </a:r>
          </a:p>
          <a:p>
            <a:pPr lvl="1"/>
            <a:r>
              <a:rPr lang="en-US" dirty="0"/>
              <a:t>Find the date range in the bike sharing dataset</a:t>
            </a:r>
          </a:p>
          <a:p>
            <a:pPr lvl="1"/>
            <a:r>
              <a:rPr lang="en-US" dirty="0"/>
              <a:t>Find the all-time high for bike rentals at a certain date and time</a:t>
            </a:r>
          </a:p>
          <a:p>
            <a:pPr lvl="1"/>
            <a:r>
              <a:rPr lang="en-US" dirty="0"/>
              <a:t>Find average hourly temperature and bike rentals per hour over each season</a:t>
            </a:r>
          </a:p>
          <a:p>
            <a:pPr lvl="1"/>
            <a:r>
              <a:rPr lang="en-US" dirty="0"/>
              <a:t>Find the average bike count during each season</a:t>
            </a:r>
          </a:p>
          <a:p>
            <a:pPr lvl="1"/>
            <a:r>
              <a:rPr lang="en-US" dirty="0"/>
              <a:t>Determine the average weather each season</a:t>
            </a:r>
          </a:p>
          <a:p>
            <a:pPr lvl="1"/>
            <a:r>
              <a:rPr lang="en-US" dirty="0"/>
              <a:t>Find the total bike count and city info for Seoul</a:t>
            </a:r>
          </a:p>
          <a:p>
            <a:pPr lvl="1"/>
            <a:r>
              <a:rPr lang="en-US" dirty="0"/>
              <a:t>Find all cities with comparable bike rentals to Seoul</a:t>
            </a:r>
          </a:p>
        </p:txBody>
      </p:sp>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4"/>
          </p:nvPr>
        </p:nvSpPr>
        <p:spPr/>
        <p:txBody>
          <a:bodyPr/>
          <a:lstStyle/>
          <a:p>
            <a:fld id="{5075537C-CA84-1446-933C-8E9D027F9201}" type="slidenum">
              <a:rPr lang="en-US" smtClean="0"/>
              <a:t>9</a:t>
            </a:fld>
            <a:endParaRPr lang="en-US"/>
          </a:p>
        </p:txBody>
      </p:sp>
    </p:spTree>
    <p:extLst>
      <p:ext uri="{BB962C8B-B14F-4D97-AF65-F5344CB8AC3E}">
        <p14:creationId xmlns:p14="http://schemas.microsoft.com/office/powerpoint/2010/main" val="1578726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80454"/>
            <a:ext cx="10515600" cy="1325563"/>
          </a:xfrm>
        </p:spPr>
        <p:txBody>
          <a:bodyPr/>
          <a:lstStyle/>
          <a:p>
            <a:r>
              <a:rPr lang="en-US" dirty="0"/>
              <a:t>EDA with data visualization</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1"/>
          </p:nvPr>
        </p:nvSpPr>
        <p:spPr/>
        <p:txBody>
          <a:bodyPr/>
          <a:lstStyle/>
          <a:p>
            <a:r>
              <a:rPr lang="en-US" dirty="0"/>
              <a:t>Charts were plotted showing the following:</a:t>
            </a:r>
          </a:p>
          <a:p>
            <a:pPr lvl="1"/>
            <a:r>
              <a:rPr lang="en-US" dirty="0"/>
              <a:t>Bike rentals by date</a:t>
            </a:r>
          </a:p>
          <a:p>
            <a:pPr lvl="1"/>
            <a:r>
              <a:rPr lang="en-US" dirty="0"/>
              <a:t>Bike rentals by date and separated by the hour of the bike rental</a:t>
            </a:r>
          </a:p>
          <a:p>
            <a:pPr lvl="1"/>
            <a:r>
              <a:rPr lang="en-US" dirty="0"/>
              <a:t>A histogram of how often a certain number of bicycles were rented within an hour </a:t>
            </a:r>
          </a:p>
          <a:p>
            <a:pPr marL="0" indent="0">
              <a:buNone/>
            </a:pPr>
            <a:endParaRPr lang="en-US" dirty="0"/>
          </a:p>
        </p:txBody>
      </p:sp>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4"/>
          </p:nvPr>
        </p:nvSpPr>
        <p:spPr/>
        <p:txBody>
          <a:bodyPr/>
          <a:lstStyle/>
          <a:p>
            <a:fld id="{5075537C-CA84-1446-933C-8E9D027F9201}" type="slidenum">
              <a:rPr lang="en-US" smtClean="0"/>
              <a:t>10</a:t>
            </a:fld>
            <a:endParaRPr lang="en-US"/>
          </a:p>
        </p:txBody>
      </p:sp>
    </p:spTree>
    <p:extLst>
      <p:ext uri="{BB962C8B-B14F-4D97-AF65-F5344CB8AC3E}">
        <p14:creationId xmlns:p14="http://schemas.microsoft.com/office/powerpoint/2010/main" val="779971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80454"/>
            <a:ext cx="10515600" cy="1325563"/>
          </a:xfrm>
        </p:spPr>
        <p:txBody>
          <a:bodyPr/>
          <a:lstStyle/>
          <a:p>
            <a:r>
              <a:rPr lang="en-US" dirty="0"/>
              <a:t>Predictive analysis</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1"/>
          </p:nvPr>
        </p:nvSpPr>
        <p:spPr/>
        <p:txBody>
          <a:bodyPr/>
          <a:lstStyle/>
          <a:p>
            <a:r>
              <a:rPr lang="en-US" dirty="0"/>
              <a:t>The predictive model was built by determining which coefficients had the most impact (either positively or negatively) on the model.</a:t>
            </a:r>
          </a:p>
          <a:p>
            <a:r>
              <a:rPr lang="en-US" dirty="0"/>
              <a:t>Once those were determined, several models were developed and tested to determine which model would perform best</a:t>
            </a:r>
          </a:p>
          <a:p>
            <a:endParaRPr lang="en-US" dirty="0"/>
          </a:p>
        </p:txBody>
      </p:sp>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4"/>
          </p:nvPr>
        </p:nvSpPr>
        <p:spPr/>
        <p:txBody>
          <a:bodyPr/>
          <a:lstStyle/>
          <a:p>
            <a:fld id="{5075537C-CA84-1446-933C-8E9D027F9201}" type="slidenum">
              <a:rPr lang="en-US" smtClean="0"/>
              <a:t>11</a:t>
            </a:fld>
            <a:endParaRPr lang="en-US"/>
          </a:p>
        </p:txBody>
      </p:sp>
    </p:spTree>
    <p:extLst>
      <p:ext uri="{BB962C8B-B14F-4D97-AF65-F5344CB8AC3E}">
        <p14:creationId xmlns:p14="http://schemas.microsoft.com/office/powerpoint/2010/main" val="1813711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80454"/>
            <a:ext cx="10515600" cy="1325563"/>
          </a:xfrm>
        </p:spPr>
        <p:txBody>
          <a:bodyPr/>
          <a:lstStyle/>
          <a:p>
            <a:r>
              <a:rPr lang="en-US" dirty="0"/>
              <a:t>Build a R Shiny dashboard</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1"/>
          </p:nvPr>
        </p:nvSpPr>
        <p:spPr/>
        <p:txBody>
          <a:bodyPr/>
          <a:lstStyle/>
          <a:p>
            <a:r>
              <a:rPr lang="en-US" dirty="0"/>
              <a:t>A dashboard was created to allow for interaction to show bike rental demand and weather across several cities.</a:t>
            </a:r>
          </a:p>
          <a:p>
            <a:r>
              <a:rPr lang="en-US" dirty="0"/>
              <a:t>This dashboard allows for comparison and can show data such as weather, bike-share demand, and predict bike-share demand based on humidity projections.</a:t>
            </a:r>
          </a:p>
          <a:p>
            <a:endParaRPr lang="en-US" dirty="0"/>
          </a:p>
        </p:txBody>
      </p:sp>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4"/>
          </p:nvPr>
        </p:nvSpPr>
        <p:spPr/>
        <p:txBody>
          <a:bodyPr/>
          <a:lstStyle/>
          <a:p>
            <a:fld id="{5075537C-CA84-1446-933C-8E9D027F9201}" type="slidenum">
              <a:rPr lang="en-US" smtClean="0"/>
              <a:t>12</a:t>
            </a:fld>
            <a:endParaRPr lang="en-US"/>
          </a:p>
        </p:txBody>
      </p:sp>
    </p:spTree>
    <p:extLst>
      <p:ext uri="{BB962C8B-B14F-4D97-AF65-F5344CB8AC3E}">
        <p14:creationId xmlns:p14="http://schemas.microsoft.com/office/powerpoint/2010/main" val="148114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p:txBody>
          <a:bodyPr/>
          <a:lstStyle/>
          <a:p>
            <a:r>
              <a:rPr lang="en-US" dirty="0"/>
              <a:t>Results</a:t>
            </a:r>
          </a:p>
        </p:txBody>
      </p:sp>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4285075"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Exploratory data analysis results</a:t>
            </a:r>
          </a:p>
          <a:p>
            <a:endParaRPr lang="en-US" sz="2200" dirty="0"/>
          </a:p>
          <a:p>
            <a:endParaRPr lang="en-US" sz="2200" dirty="0"/>
          </a:p>
          <a:p>
            <a:r>
              <a:rPr lang="en-US" sz="2200" dirty="0"/>
              <a:t>Predictive analysis results</a:t>
            </a:r>
          </a:p>
          <a:p>
            <a:pPr lvl="1"/>
            <a:endParaRPr lang="en-US" sz="1800" dirty="0"/>
          </a:p>
          <a:p>
            <a:pPr marL="457200" lvl="1" indent="0">
              <a:buNone/>
            </a:pPr>
            <a:endParaRPr lang="en-US" sz="1800" dirty="0"/>
          </a:p>
          <a:p>
            <a:r>
              <a:rPr lang="en-US" sz="2200" dirty="0"/>
              <a:t>A dashboard demo in screenshots</a:t>
            </a:r>
          </a:p>
        </p:txBody>
      </p:sp>
      <p:pic>
        <p:nvPicPr>
          <p:cNvPr id="5" name="Picture 4">
            <a:extLst>
              <a:ext uri="{FF2B5EF4-FFF2-40B4-BE49-F238E27FC236}">
                <a16:creationId xmlns:a16="http://schemas.microsoft.com/office/drawing/2014/main" id="{D67BC1C6-7E6A-1F48-8526-B99806B6E370}"/>
              </a:ext>
            </a:extLst>
          </p:cNvPr>
          <p:cNvPicPr>
            <a:picLocks noChangeAspect="1"/>
          </p:cNvPicPr>
          <p:nvPr/>
        </p:nvPicPr>
        <p:blipFill>
          <a:blip r:embed="rId3"/>
          <a:stretch>
            <a:fillRect/>
          </a:stretch>
        </p:blipFill>
        <p:spPr>
          <a:xfrm>
            <a:off x="979655" y="1831709"/>
            <a:ext cx="3194581" cy="3194581"/>
          </a:xfrm>
          <a:prstGeom prst="rect">
            <a:avLst/>
          </a:prstGeom>
        </p:spPr>
      </p:pic>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4"/>
          </p:nvPr>
        </p:nvSpPr>
        <p:spPr/>
        <p:txBody>
          <a:bodyPr/>
          <a:lstStyle/>
          <a:p>
            <a:fld id="{5075537C-CA84-1446-933C-8E9D027F9201}" type="slidenum">
              <a:rPr lang="en-US" smtClean="0"/>
              <a:t>13</a:t>
            </a:fld>
            <a:endParaRPr lang="en-US"/>
          </a:p>
        </p:txBody>
      </p:sp>
    </p:spTree>
    <p:extLst>
      <p:ext uri="{BB962C8B-B14F-4D97-AF65-F5344CB8AC3E}">
        <p14:creationId xmlns:p14="http://schemas.microsoft.com/office/powerpoint/2010/main" val="321008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918F41-388B-9F49-B083-9363E48C4D6D}"/>
              </a:ext>
            </a:extLst>
          </p:cNvPr>
          <p:cNvSpPr>
            <a:spLocks noGrp="1"/>
          </p:cNvSpPr>
          <p:nvPr>
            <p:ph type="title"/>
          </p:nvPr>
        </p:nvSpPr>
        <p:spPr/>
        <p:txBody>
          <a:bodyPr/>
          <a:lstStyle/>
          <a:p>
            <a:r>
              <a:rPr lang="en-US" dirty="0"/>
              <a:t>EDA with SQL</a:t>
            </a:r>
          </a:p>
        </p:txBody>
      </p:sp>
      <p:sp>
        <p:nvSpPr>
          <p:cNvPr id="5" name="Text Placeholder 4">
            <a:extLst>
              <a:ext uri="{FF2B5EF4-FFF2-40B4-BE49-F238E27FC236}">
                <a16:creationId xmlns:a16="http://schemas.microsoft.com/office/drawing/2014/main" id="{1FACB35F-F761-AD43-A90D-CCA232A9EE9C}"/>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4"/>
          </p:nvPr>
        </p:nvSpPr>
        <p:spPr/>
        <p:txBody>
          <a:bodyPr/>
          <a:lstStyle/>
          <a:p>
            <a:fld id="{5075537C-CA84-1446-933C-8E9D027F9201}" type="slidenum">
              <a:rPr lang="en-US" smtClean="0"/>
              <a:t>14</a:t>
            </a:fld>
            <a:endParaRPr lang="en-US"/>
          </a:p>
        </p:txBody>
      </p:sp>
    </p:spTree>
    <p:extLst>
      <p:ext uri="{BB962C8B-B14F-4D97-AF65-F5344CB8AC3E}">
        <p14:creationId xmlns:p14="http://schemas.microsoft.com/office/powerpoint/2010/main" val="3181088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80454"/>
            <a:ext cx="10515600" cy="1325563"/>
          </a:xfrm>
        </p:spPr>
        <p:txBody>
          <a:bodyPr/>
          <a:lstStyle/>
          <a:p>
            <a:r>
              <a:rPr lang="en-CA" b="1" dirty="0"/>
              <a:t>Busiest bike rental times</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1"/>
          </p:nvPr>
        </p:nvSpPr>
        <p:spPr>
          <a:xfrm>
            <a:off x="2407298" y="1690688"/>
            <a:ext cx="8946501" cy="4351338"/>
          </a:xfrm>
        </p:spPr>
        <p:txBody>
          <a:bodyPr/>
          <a:lstStyle/>
          <a:p>
            <a:pPr marL="0" indent="0">
              <a:buNone/>
            </a:pPr>
            <a:endParaRPr lang="en-US" dirty="0"/>
          </a:p>
          <a:p>
            <a:r>
              <a:rPr lang="en-US" dirty="0"/>
              <a:t>The busiest hours are shown to the right</a:t>
            </a:r>
          </a:p>
          <a:p>
            <a:r>
              <a:rPr lang="en-US" dirty="0"/>
              <a:t>Generally, the busiest hour for bike rentals were between 1700-2100</a:t>
            </a:r>
          </a:p>
        </p:txBody>
      </p:sp>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4"/>
          </p:nvPr>
        </p:nvSpPr>
        <p:spPr/>
        <p:txBody>
          <a:bodyPr/>
          <a:lstStyle/>
          <a:p>
            <a:fld id="{5075537C-CA84-1446-933C-8E9D027F9201}" type="slidenum">
              <a:rPr lang="en-US" smtClean="0"/>
              <a:t>15</a:t>
            </a:fld>
            <a:endParaRPr lang="en-US"/>
          </a:p>
        </p:txBody>
      </p:sp>
      <p:pic>
        <p:nvPicPr>
          <p:cNvPr id="10" name="Picture 9">
            <a:extLst>
              <a:ext uri="{FF2B5EF4-FFF2-40B4-BE49-F238E27FC236}">
                <a16:creationId xmlns:a16="http://schemas.microsoft.com/office/drawing/2014/main" id="{F85C0DDA-C452-DFCB-F12A-CE96DC3055FF}"/>
              </a:ext>
            </a:extLst>
          </p:cNvPr>
          <p:cNvPicPr>
            <a:picLocks noChangeAspect="1"/>
          </p:cNvPicPr>
          <p:nvPr/>
        </p:nvPicPr>
        <p:blipFill>
          <a:blip r:embed="rId2"/>
          <a:stretch>
            <a:fillRect/>
          </a:stretch>
        </p:blipFill>
        <p:spPr>
          <a:xfrm>
            <a:off x="1130009" y="1321955"/>
            <a:ext cx="812123" cy="5399520"/>
          </a:xfrm>
          <a:prstGeom prst="rect">
            <a:avLst/>
          </a:prstGeom>
        </p:spPr>
      </p:pic>
    </p:spTree>
    <p:extLst>
      <p:ext uri="{BB962C8B-B14F-4D97-AF65-F5344CB8AC3E}">
        <p14:creationId xmlns:p14="http://schemas.microsoft.com/office/powerpoint/2010/main" val="2727850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80454"/>
            <a:ext cx="10515600" cy="1325563"/>
          </a:xfrm>
        </p:spPr>
        <p:txBody>
          <a:bodyPr/>
          <a:lstStyle/>
          <a:p>
            <a:r>
              <a:rPr lang="en-CA" b="1" dirty="0"/>
              <a:t>Hourly popularity and temperature by seasons</a:t>
            </a:r>
          </a:p>
        </p:txBody>
      </p:sp>
      <p:sp>
        <p:nvSpPr>
          <p:cNvPr id="4" name="Slide Number Placeholder 3">
            <a:extLst>
              <a:ext uri="{FF2B5EF4-FFF2-40B4-BE49-F238E27FC236}">
                <a16:creationId xmlns:a16="http://schemas.microsoft.com/office/drawing/2014/main" id="{46355478-DA14-224A-86EB-1DEBC1E91521}"/>
              </a:ext>
            </a:extLst>
          </p:cNvPr>
          <p:cNvSpPr>
            <a:spLocks noGrp="1"/>
          </p:cNvSpPr>
          <p:nvPr>
            <p:ph type="sldNum" sz="quarter" idx="4"/>
          </p:nvPr>
        </p:nvSpPr>
        <p:spPr/>
        <p:txBody>
          <a:bodyPr/>
          <a:lstStyle/>
          <a:p>
            <a:fld id="{5075537C-CA84-1446-933C-8E9D027F9201}" type="slidenum">
              <a:rPr lang="en-US" smtClean="0"/>
              <a:t>16</a:t>
            </a:fld>
            <a:endParaRPr lang="en-US"/>
          </a:p>
        </p:txBody>
      </p:sp>
      <p:pic>
        <p:nvPicPr>
          <p:cNvPr id="7" name="Picture 6">
            <a:extLst>
              <a:ext uri="{FF2B5EF4-FFF2-40B4-BE49-F238E27FC236}">
                <a16:creationId xmlns:a16="http://schemas.microsoft.com/office/drawing/2014/main" id="{FC8D229C-0C83-FC7A-9493-562A0AAA7AB2}"/>
              </a:ext>
            </a:extLst>
          </p:cNvPr>
          <p:cNvPicPr>
            <a:picLocks noChangeAspect="1"/>
          </p:cNvPicPr>
          <p:nvPr/>
        </p:nvPicPr>
        <p:blipFill>
          <a:blip r:embed="rId2"/>
          <a:stretch>
            <a:fillRect/>
          </a:stretch>
        </p:blipFill>
        <p:spPr>
          <a:xfrm>
            <a:off x="744670" y="1873654"/>
            <a:ext cx="4238591" cy="4453043"/>
          </a:xfrm>
          <a:prstGeom prst="rect">
            <a:avLst/>
          </a:prstGeom>
        </p:spPr>
      </p:pic>
      <p:sp>
        <p:nvSpPr>
          <p:cNvPr id="11" name="Content Placeholder 4">
            <a:extLst>
              <a:ext uri="{FF2B5EF4-FFF2-40B4-BE49-F238E27FC236}">
                <a16:creationId xmlns:a16="http://schemas.microsoft.com/office/drawing/2014/main" id="{788345BF-19A5-F83E-2A1A-CD25C65DE963}"/>
              </a:ext>
            </a:extLst>
          </p:cNvPr>
          <p:cNvSpPr txBox="1">
            <a:spLocks/>
          </p:cNvSpPr>
          <p:nvPr/>
        </p:nvSpPr>
        <p:spPr>
          <a:xfrm>
            <a:off x="5645020" y="1690688"/>
            <a:ext cx="570877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a:p>
          <a:p>
            <a:r>
              <a:rPr lang="en-US"/>
              <a:t>The most popular times by season are shown.</a:t>
            </a:r>
          </a:p>
          <a:p>
            <a:r>
              <a:rPr lang="en-US"/>
              <a:t>This shows that bike rentals are most popular in the evening (1700-2200), generally in the summer</a:t>
            </a:r>
            <a:endParaRPr lang="en-US" dirty="0"/>
          </a:p>
        </p:txBody>
      </p:sp>
    </p:spTree>
    <p:extLst>
      <p:ext uri="{BB962C8B-B14F-4D97-AF65-F5344CB8AC3E}">
        <p14:creationId xmlns:p14="http://schemas.microsoft.com/office/powerpoint/2010/main" val="3522971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80454"/>
            <a:ext cx="10515600" cy="1325563"/>
          </a:xfrm>
        </p:spPr>
        <p:txBody>
          <a:bodyPr>
            <a:normAutofit/>
          </a:bodyPr>
          <a:lstStyle/>
          <a:p>
            <a:r>
              <a:rPr lang="en-CA" b="1" dirty="0"/>
              <a:t>Rental Seasonality</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1"/>
          </p:nvPr>
        </p:nvSpPr>
        <p:spPr/>
        <p:txBody>
          <a:bodyPr/>
          <a:lstStyle/>
          <a:p>
            <a:r>
              <a:rPr lang="en-US" dirty="0"/>
              <a:t>The table below shows rental statistics for each season.</a:t>
            </a:r>
          </a:p>
          <a:p>
            <a:r>
              <a:rPr lang="en-US" dirty="0"/>
              <a:t>The summer is the most popular, with the highest average bike rentals.</a:t>
            </a:r>
          </a:p>
        </p:txBody>
      </p:sp>
      <p:sp>
        <p:nvSpPr>
          <p:cNvPr id="4" name="Slide Number Placeholder 3">
            <a:extLst>
              <a:ext uri="{FF2B5EF4-FFF2-40B4-BE49-F238E27FC236}">
                <a16:creationId xmlns:a16="http://schemas.microsoft.com/office/drawing/2014/main" id="{54AEC204-6979-264D-A847-A40A6855A8FA}"/>
              </a:ext>
            </a:extLst>
          </p:cNvPr>
          <p:cNvSpPr>
            <a:spLocks noGrp="1"/>
          </p:cNvSpPr>
          <p:nvPr>
            <p:ph type="sldNum" sz="quarter" idx="4"/>
          </p:nvPr>
        </p:nvSpPr>
        <p:spPr/>
        <p:txBody>
          <a:bodyPr/>
          <a:lstStyle/>
          <a:p>
            <a:fld id="{5075537C-CA84-1446-933C-8E9D027F9201}" type="slidenum">
              <a:rPr lang="en-US" smtClean="0"/>
              <a:t>17</a:t>
            </a:fld>
            <a:endParaRPr lang="en-US"/>
          </a:p>
        </p:txBody>
      </p:sp>
      <p:pic>
        <p:nvPicPr>
          <p:cNvPr id="6" name="Picture 5">
            <a:extLst>
              <a:ext uri="{FF2B5EF4-FFF2-40B4-BE49-F238E27FC236}">
                <a16:creationId xmlns:a16="http://schemas.microsoft.com/office/drawing/2014/main" id="{C012A5BA-051D-B9F3-A0F9-D8510D4EC6DC}"/>
              </a:ext>
            </a:extLst>
          </p:cNvPr>
          <p:cNvPicPr>
            <a:picLocks noChangeAspect="1"/>
          </p:cNvPicPr>
          <p:nvPr/>
        </p:nvPicPr>
        <p:blipFill>
          <a:blip r:embed="rId2"/>
          <a:stretch>
            <a:fillRect/>
          </a:stretch>
        </p:blipFill>
        <p:spPr>
          <a:xfrm>
            <a:off x="1086318" y="3954204"/>
            <a:ext cx="7549965" cy="2372493"/>
          </a:xfrm>
          <a:prstGeom prst="rect">
            <a:avLst/>
          </a:prstGeom>
        </p:spPr>
      </p:pic>
    </p:spTree>
    <p:extLst>
      <p:ext uri="{BB962C8B-B14F-4D97-AF65-F5344CB8AC3E}">
        <p14:creationId xmlns:p14="http://schemas.microsoft.com/office/powerpoint/2010/main" val="642773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80454"/>
            <a:ext cx="10515600" cy="1325563"/>
          </a:xfrm>
        </p:spPr>
        <p:txBody>
          <a:bodyPr>
            <a:normAutofit/>
          </a:bodyPr>
          <a:lstStyle/>
          <a:p>
            <a:r>
              <a:rPr lang="en-CA" b="1" dirty="0"/>
              <a:t>Weather Seasonality</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1"/>
          </p:nvPr>
        </p:nvSpPr>
        <p:spPr/>
        <p:txBody>
          <a:bodyPr/>
          <a:lstStyle/>
          <a:p>
            <a:r>
              <a:rPr lang="en-US" dirty="0"/>
              <a:t>Below is a table of the average rentals and weather by season</a:t>
            </a:r>
          </a:p>
          <a:p>
            <a:r>
              <a:rPr lang="en-US" dirty="0"/>
              <a:t>The summer is the most popular season for bike rentals, highlighted by the highest average temperature and no snow.</a:t>
            </a:r>
          </a:p>
        </p:txBody>
      </p:sp>
      <p:sp>
        <p:nvSpPr>
          <p:cNvPr id="4" name="Slide Number Placeholder 3">
            <a:extLst>
              <a:ext uri="{FF2B5EF4-FFF2-40B4-BE49-F238E27FC236}">
                <a16:creationId xmlns:a16="http://schemas.microsoft.com/office/drawing/2014/main" id="{C903E2FD-95BF-5C4B-B607-B4C4D1C01224}"/>
              </a:ext>
            </a:extLst>
          </p:cNvPr>
          <p:cNvSpPr>
            <a:spLocks noGrp="1"/>
          </p:cNvSpPr>
          <p:nvPr>
            <p:ph type="sldNum" sz="quarter" idx="4"/>
          </p:nvPr>
        </p:nvSpPr>
        <p:spPr/>
        <p:txBody>
          <a:bodyPr/>
          <a:lstStyle/>
          <a:p>
            <a:fld id="{5075537C-CA84-1446-933C-8E9D027F9201}" type="slidenum">
              <a:rPr lang="en-US" smtClean="0"/>
              <a:t>18</a:t>
            </a:fld>
            <a:endParaRPr lang="en-US"/>
          </a:p>
        </p:txBody>
      </p:sp>
      <p:pic>
        <p:nvPicPr>
          <p:cNvPr id="3" name="Picture 2">
            <a:extLst>
              <a:ext uri="{FF2B5EF4-FFF2-40B4-BE49-F238E27FC236}">
                <a16:creationId xmlns:a16="http://schemas.microsoft.com/office/drawing/2014/main" id="{5F5E273C-3BF6-8E22-1DBE-FDF71D687B6F}"/>
              </a:ext>
            </a:extLst>
          </p:cNvPr>
          <p:cNvPicPr>
            <a:picLocks noChangeAspect="1"/>
          </p:cNvPicPr>
          <p:nvPr/>
        </p:nvPicPr>
        <p:blipFill>
          <a:blip r:embed="rId2"/>
          <a:stretch>
            <a:fillRect/>
          </a:stretch>
        </p:blipFill>
        <p:spPr>
          <a:xfrm>
            <a:off x="245112" y="4330538"/>
            <a:ext cx="10646183" cy="1996159"/>
          </a:xfrm>
          <a:prstGeom prst="rect">
            <a:avLst/>
          </a:prstGeom>
        </p:spPr>
      </p:pic>
    </p:spTree>
    <p:extLst>
      <p:ext uri="{BB962C8B-B14F-4D97-AF65-F5344CB8AC3E}">
        <p14:creationId xmlns:p14="http://schemas.microsoft.com/office/powerpoint/2010/main" val="2362798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80454"/>
            <a:ext cx="10515600" cy="1325563"/>
          </a:xfrm>
        </p:spPr>
        <p:txBody>
          <a:bodyPr>
            <a:normAutofit/>
          </a:bodyPr>
          <a:lstStyle/>
          <a:p>
            <a:r>
              <a:rPr lang="en-CA" b="1" dirty="0"/>
              <a:t>Bike-sharing info in Seoul</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1"/>
          </p:nvPr>
        </p:nvSpPr>
        <p:spPr/>
        <p:txBody>
          <a:bodyPr/>
          <a:lstStyle/>
          <a:p>
            <a:r>
              <a:rPr lang="en-US" dirty="0"/>
              <a:t>Below shows the total rental bikes available in Seoul, as well as some general information about Seoul</a:t>
            </a:r>
          </a:p>
        </p:txBody>
      </p:sp>
      <p:sp>
        <p:nvSpPr>
          <p:cNvPr id="4" name="Slide Number Placeholder 3">
            <a:extLst>
              <a:ext uri="{FF2B5EF4-FFF2-40B4-BE49-F238E27FC236}">
                <a16:creationId xmlns:a16="http://schemas.microsoft.com/office/drawing/2014/main" id="{B5A83BC8-CBF6-D844-AA13-2B3E45B62A77}"/>
              </a:ext>
            </a:extLst>
          </p:cNvPr>
          <p:cNvSpPr>
            <a:spLocks noGrp="1"/>
          </p:cNvSpPr>
          <p:nvPr>
            <p:ph type="sldNum" sz="quarter" idx="4"/>
          </p:nvPr>
        </p:nvSpPr>
        <p:spPr/>
        <p:txBody>
          <a:bodyPr/>
          <a:lstStyle/>
          <a:p>
            <a:fld id="{5075537C-CA84-1446-933C-8E9D027F9201}" type="slidenum">
              <a:rPr lang="en-US" smtClean="0"/>
              <a:t>19</a:t>
            </a:fld>
            <a:endParaRPr lang="en-US"/>
          </a:p>
        </p:txBody>
      </p:sp>
      <p:pic>
        <p:nvPicPr>
          <p:cNvPr id="6" name="Picture 5">
            <a:extLst>
              <a:ext uri="{FF2B5EF4-FFF2-40B4-BE49-F238E27FC236}">
                <a16:creationId xmlns:a16="http://schemas.microsoft.com/office/drawing/2014/main" id="{ADCC51E9-FC6E-E731-E2FB-594745E76D0C}"/>
              </a:ext>
            </a:extLst>
          </p:cNvPr>
          <p:cNvPicPr>
            <a:picLocks noChangeAspect="1"/>
          </p:cNvPicPr>
          <p:nvPr/>
        </p:nvPicPr>
        <p:blipFill>
          <a:blip r:embed="rId2"/>
          <a:stretch>
            <a:fillRect/>
          </a:stretch>
        </p:blipFill>
        <p:spPr>
          <a:xfrm>
            <a:off x="1342549" y="4338629"/>
            <a:ext cx="8466544" cy="1657365"/>
          </a:xfrm>
          <a:prstGeom prst="rect">
            <a:avLst/>
          </a:prstGeom>
        </p:spPr>
      </p:pic>
    </p:spTree>
    <p:extLst>
      <p:ext uri="{BB962C8B-B14F-4D97-AF65-F5344CB8AC3E}">
        <p14:creationId xmlns:p14="http://schemas.microsoft.com/office/powerpoint/2010/main" val="2497896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a:xfrm>
            <a:off x="838200" y="80454"/>
            <a:ext cx="10515600" cy="1325563"/>
          </a:xfrm>
        </p:spPr>
        <p:txBody>
          <a:bodyPr>
            <a:normAutofit/>
          </a:bodyPr>
          <a:lstStyle/>
          <a:p>
            <a:r>
              <a:rPr lang="en-CA" sz="3600" b="1" dirty="0"/>
              <a:t>Cities similar to Seoul</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1"/>
          </p:nvPr>
        </p:nvSpPr>
        <p:spPr>
          <a:xfrm>
            <a:off x="6285808" y="1690688"/>
            <a:ext cx="5067992" cy="4351338"/>
          </a:xfrm>
        </p:spPr>
        <p:txBody>
          <a:bodyPr/>
          <a:lstStyle/>
          <a:p>
            <a:r>
              <a:rPr lang="en-US" dirty="0"/>
              <a:t>This table shows cities comparable to Seoul in terms of bikes available for rental</a:t>
            </a:r>
          </a:p>
        </p:txBody>
      </p:sp>
      <p:sp>
        <p:nvSpPr>
          <p:cNvPr id="4" name="Slide Number Placeholder 3">
            <a:extLst>
              <a:ext uri="{FF2B5EF4-FFF2-40B4-BE49-F238E27FC236}">
                <a16:creationId xmlns:a16="http://schemas.microsoft.com/office/drawing/2014/main" id="{A928B5D5-D62F-D340-9B86-E53618111BAB}"/>
              </a:ext>
            </a:extLst>
          </p:cNvPr>
          <p:cNvSpPr>
            <a:spLocks noGrp="1"/>
          </p:cNvSpPr>
          <p:nvPr>
            <p:ph type="sldNum" sz="quarter" idx="4"/>
          </p:nvPr>
        </p:nvSpPr>
        <p:spPr/>
        <p:txBody>
          <a:bodyPr/>
          <a:lstStyle/>
          <a:p>
            <a:fld id="{5075537C-CA84-1446-933C-8E9D027F9201}" type="slidenum">
              <a:rPr lang="en-US" smtClean="0"/>
              <a:t>20</a:t>
            </a:fld>
            <a:endParaRPr lang="en-US"/>
          </a:p>
        </p:txBody>
      </p:sp>
      <p:pic>
        <p:nvPicPr>
          <p:cNvPr id="6" name="Picture 5">
            <a:extLst>
              <a:ext uri="{FF2B5EF4-FFF2-40B4-BE49-F238E27FC236}">
                <a16:creationId xmlns:a16="http://schemas.microsoft.com/office/drawing/2014/main" id="{D73646E1-37E0-56CF-D11A-1B5302D67EE7}"/>
              </a:ext>
            </a:extLst>
          </p:cNvPr>
          <p:cNvPicPr>
            <a:picLocks noChangeAspect="1"/>
          </p:cNvPicPr>
          <p:nvPr/>
        </p:nvPicPr>
        <p:blipFill>
          <a:blip r:embed="rId2"/>
          <a:stretch>
            <a:fillRect/>
          </a:stretch>
        </p:blipFill>
        <p:spPr>
          <a:xfrm>
            <a:off x="400810" y="1950133"/>
            <a:ext cx="5505384" cy="2817809"/>
          </a:xfrm>
          <a:prstGeom prst="rect">
            <a:avLst/>
          </a:prstGeom>
        </p:spPr>
      </p:pic>
    </p:spTree>
    <p:extLst>
      <p:ext uri="{BB962C8B-B14F-4D97-AF65-F5344CB8AC3E}">
        <p14:creationId xmlns:p14="http://schemas.microsoft.com/office/powerpoint/2010/main" val="2168977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918F41-388B-9F49-B083-9363E48C4D6D}"/>
              </a:ext>
            </a:extLst>
          </p:cNvPr>
          <p:cNvSpPr>
            <a:spLocks noGrp="1"/>
          </p:cNvSpPr>
          <p:nvPr>
            <p:ph type="title"/>
          </p:nvPr>
        </p:nvSpPr>
        <p:spPr/>
        <p:txBody>
          <a:bodyPr/>
          <a:lstStyle/>
          <a:p>
            <a:r>
              <a:rPr lang="en-US" dirty="0"/>
              <a:t>EDA with Visualization</a:t>
            </a:r>
          </a:p>
        </p:txBody>
      </p:sp>
      <p:sp>
        <p:nvSpPr>
          <p:cNvPr id="5" name="Text Placeholder 4">
            <a:extLst>
              <a:ext uri="{FF2B5EF4-FFF2-40B4-BE49-F238E27FC236}">
                <a16:creationId xmlns:a16="http://schemas.microsoft.com/office/drawing/2014/main" id="{1FACB35F-F761-AD43-A90D-CCA232A9EE9C}"/>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266FE4F3-0232-0849-BFC2-DCEE70914CFB}"/>
              </a:ext>
            </a:extLst>
          </p:cNvPr>
          <p:cNvSpPr>
            <a:spLocks noGrp="1"/>
          </p:cNvSpPr>
          <p:nvPr>
            <p:ph type="sldNum" sz="quarter" idx="4"/>
          </p:nvPr>
        </p:nvSpPr>
        <p:spPr/>
        <p:txBody>
          <a:bodyPr/>
          <a:lstStyle/>
          <a:p>
            <a:fld id="{5075537C-CA84-1446-933C-8E9D027F9201}" type="slidenum">
              <a:rPr lang="en-US" smtClean="0"/>
              <a:t>21</a:t>
            </a:fld>
            <a:endParaRPr lang="en-US"/>
          </a:p>
        </p:txBody>
      </p:sp>
    </p:spTree>
    <p:extLst>
      <p:ext uri="{BB962C8B-B14F-4D97-AF65-F5344CB8AC3E}">
        <p14:creationId xmlns:p14="http://schemas.microsoft.com/office/powerpoint/2010/main" val="178270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E64D-9BFF-4C49-BEEE-CC19604A31D1}"/>
              </a:ext>
            </a:extLst>
          </p:cNvPr>
          <p:cNvSpPr>
            <a:spLocks noGrp="1"/>
          </p:cNvSpPr>
          <p:nvPr>
            <p:ph type="title"/>
          </p:nvPr>
        </p:nvSpPr>
        <p:spPr/>
        <p:txBody>
          <a:bodyPr>
            <a:normAutofit/>
          </a:bodyPr>
          <a:lstStyle/>
          <a:p>
            <a:r>
              <a:rPr lang="en-CA" sz="3600" b="1" dirty="0"/>
              <a:t>Bike rental vs. Date</a:t>
            </a:r>
          </a:p>
        </p:txBody>
      </p:sp>
      <p:pic>
        <p:nvPicPr>
          <p:cNvPr id="7" name="Picture Placeholder 6">
            <a:extLst>
              <a:ext uri="{FF2B5EF4-FFF2-40B4-BE49-F238E27FC236}">
                <a16:creationId xmlns:a16="http://schemas.microsoft.com/office/drawing/2014/main" id="{4C88E396-EBF3-60A3-6F05-9628D1E5DFB4}"/>
              </a:ext>
            </a:extLst>
          </p:cNvPr>
          <p:cNvPicPr>
            <a:picLocks noGrp="1" noChangeAspect="1"/>
          </p:cNvPicPr>
          <p:nvPr>
            <p:ph type="pic" idx="1"/>
          </p:nvPr>
        </p:nvPicPr>
        <p:blipFill>
          <a:blip r:embed="rId2"/>
          <a:srcRect t="9674" b="9674"/>
          <a:stretch/>
        </p:blipFill>
        <p:spPr>
          <a:xfrm>
            <a:off x="5180012" y="800813"/>
            <a:ext cx="6172200" cy="4873625"/>
          </a:xfrm>
          <a:prstGeom prst="rect">
            <a:avLst/>
          </a:prstGeom>
        </p:spPr>
      </p:pic>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2"/>
          </p:nvPr>
        </p:nvSpPr>
        <p:spPr/>
        <p:txBody>
          <a:bodyPr/>
          <a:lstStyle/>
          <a:p>
            <a:endParaRPr lang="en-US" dirty="0"/>
          </a:p>
          <a:p>
            <a:r>
              <a:rPr lang="en-US" dirty="0"/>
              <a:t>From this scatter plot, we can see that rentals are much higher in the summer to early fall, with the lowest rentals occurring between November and April </a:t>
            </a:r>
          </a:p>
        </p:txBody>
      </p:sp>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4"/>
          </p:nvPr>
        </p:nvSpPr>
        <p:spPr/>
        <p:txBody>
          <a:bodyPr/>
          <a:lstStyle/>
          <a:p>
            <a:fld id="{5075537C-CA84-1446-933C-8E9D027F9201}" type="slidenum">
              <a:rPr lang="en-US" smtClean="0"/>
              <a:t>22</a:t>
            </a:fld>
            <a:endParaRPr lang="en-US"/>
          </a:p>
        </p:txBody>
      </p:sp>
    </p:spTree>
    <p:extLst>
      <p:ext uri="{BB962C8B-B14F-4D97-AF65-F5344CB8AC3E}">
        <p14:creationId xmlns:p14="http://schemas.microsoft.com/office/powerpoint/2010/main" val="3865605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E64D-9BFF-4C49-BEEE-CC19604A31D1}"/>
              </a:ext>
            </a:extLst>
          </p:cNvPr>
          <p:cNvSpPr>
            <a:spLocks noGrp="1"/>
          </p:cNvSpPr>
          <p:nvPr>
            <p:ph type="title"/>
          </p:nvPr>
        </p:nvSpPr>
        <p:spPr/>
        <p:txBody>
          <a:bodyPr>
            <a:normAutofit/>
          </a:bodyPr>
          <a:lstStyle/>
          <a:p>
            <a:r>
              <a:rPr lang="en-CA" sz="3600" b="1" dirty="0"/>
              <a:t>Bike rental vs. Datetime</a:t>
            </a:r>
          </a:p>
        </p:txBody>
      </p:sp>
      <p:pic>
        <p:nvPicPr>
          <p:cNvPr id="7" name="Picture Placeholder 6">
            <a:extLst>
              <a:ext uri="{FF2B5EF4-FFF2-40B4-BE49-F238E27FC236}">
                <a16:creationId xmlns:a16="http://schemas.microsoft.com/office/drawing/2014/main" id="{18BA0823-53E1-9B33-03E4-EAA03C052B3A}"/>
              </a:ext>
            </a:extLst>
          </p:cNvPr>
          <p:cNvPicPr>
            <a:picLocks noGrp="1" noChangeAspect="1"/>
          </p:cNvPicPr>
          <p:nvPr>
            <p:ph type="pic" idx="1"/>
          </p:nvPr>
        </p:nvPicPr>
        <p:blipFill>
          <a:blip r:embed="rId2"/>
          <a:srcRect t="10520" b="10520"/>
          <a:stretch/>
        </p:blipFill>
        <p:spPr>
          <a:xfrm>
            <a:off x="5603065" y="623532"/>
            <a:ext cx="6172200" cy="4872200"/>
          </a:xfrm>
          <a:prstGeom prst="rect">
            <a:avLst/>
          </a:prstGeom>
        </p:spPr>
      </p:pic>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2"/>
          </p:nvPr>
        </p:nvSpPr>
        <p:spPr/>
        <p:txBody>
          <a:bodyPr/>
          <a:lstStyle/>
          <a:p>
            <a:endParaRPr lang="en-US" dirty="0"/>
          </a:p>
          <a:p>
            <a:r>
              <a:rPr lang="en-US" dirty="0"/>
              <a:t>This plot is the same as the last, but the points are colored by the hour of the rental. Here we can see that rentals are highest for hours between 1500-2000. This is true across all seasons.</a:t>
            </a:r>
          </a:p>
        </p:txBody>
      </p:sp>
      <p:sp>
        <p:nvSpPr>
          <p:cNvPr id="5" name="Slide Number Placeholder 4">
            <a:extLst>
              <a:ext uri="{FF2B5EF4-FFF2-40B4-BE49-F238E27FC236}">
                <a16:creationId xmlns:a16="http://schemas.microsoft.com/office/drawing/2014/main" id="{4A68D5F1-C390-9F4D-988B-81E5AA1FD3D7}"/>
              </a:ext>
            </a:extLst>
          </p:cNvPr>
          <p:cNvSpPr>
            <a:spLocks noGrp="1"/>
          </p:cNvSpPr>
          <p:nvPr>
            <p:ph type="sldNum" sz="quarter" idx="4"/>
          </p:nvPr>
        </p:nvSpPr>
        <p:spPr/>
        <p:txBody>
          <a:bodyPr/>
          <a:lstStyle/>
          <a:p>
            <a:fld id="{5075537C-CA84-1446-933C-8E9D027F9201}" type="slidenum">
              <a:rPr lang="en-US" smtClean="0"/>
              <a:t>23</a:t>
            </a:fld>
            <a:endParaRPr lang="en-US"/>
          </a:p>
        </p:txBody>
      </p:sp>
    </p:spTree>
    <p:extLst>
      <p:ext uri="{BB962C8B-B14F-4D97-AF65-F5344CB8AC3E}">
        <p14:creationId xmlns:p14="http://schemas.microsoft.com/office/powerpoint/2010/main" val="785279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E64D-9BFF-4C49-BEEE-CC19604A31D1}"/>
              </a:ext>
            </a:extLst>
          </p:cNvPr>
          <p:cNvSpPr>
            <a:spLocks noGrp="1"/>
          </p:cNvSpPr>
          <p:nvPr>
            <p:ph type="title"/>
          </p:nvPr>
        </p:nvSpPr>
        <p:spPr/>
        <p:txBody>
          <a:bodyPr>
            <a:normAutofit/>
          </a:bodyPr>
          <a:lstStyle/>
          <a:p>
            <a:r>
              <a:rPr lang="en-CA" sz="3600" b="1" dirty="0"/>
              <a:t>Bike rental histogram</a:t>
            </a:r>
          </a:p>
        </p:txBody>
      </p:sp>
      <p:pic>
        <p:nvPicPr>
          <p:cNvPr id="7" name="Picture Placeholder 6">
            <a:extLst>
              <a:ext uri="{FF2B5EF4-FFF2-40B4-BE49-F238E27FC236}">
                <a16:creationId xmlns:a16="http://schemas.microsoft.com/office/drawing/2014/main" id="{FCBA4799-F7D2-70A4-7F24-4B39B9E0E7DD}"/>
              </a:ext>
            </a:extLst>
          </p:cNvPr>
          <p:cNvPicPr>
            <a:picLocks noGrp="1" noChangeAspect="1"/>
          </p:cNvPicPr>
          <p:nvPr>
            <p:ph type="pic" idx="1"/>
          </p:nvPr>
        </p:nvPicPr>
        <p:blipFill>
          <a:blip r:embed="rId2"/>
          <a:srcRect t="8361" b="8361"/>
          <a:stretch/>
        </p:blipFill>
        <p:spPr>
          <a:prstGeom prst="rect">
            <a:avLst/>
          </a:prstGeom>
        </p:spPr>
      </p:pic>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2"/>
          </p:nvPr>
        </p:nvSpPr>
        <p:spPr/>
        <p:txBody>
          <a:bodyPr/>
          <a:lstStyle/>
          <a:p>
            <a:r>
              <a:rPr lang="en-US" dirty="0"/>
              <a:t>This graph shows that bike rentals are generally much lower by hour. This shows that high rental times are much less common then low rental times.</a:t>
            </a:r>
          </a:p>
        </p:txBody>
      </p:sp>
      <p:sp>
        <p:nvSpPr>
          <p:cNvPr id="5" name="Slide Number Placeholder 4">
            <a:extLst>
              <a:ext uri="{FF2B5EF4-FFF2-40B4-BE49-F238E27FC236}">
                <a16:creationId xmlns:a16="http://schemas.microsoft.com/office/drawing/2014/main" id="{EEB9A576-7B32-774A-A15A-0925AFF04C85}"/>
              </a:ext>
            </a:extLst>
          </p:cNvPr>
          <p:cNvSpPr>
            <a:spLocks noGrp="1"/>
          </p:cNvSpPr>
          <p:nvPr>
            <p:ph type="sldNum" sz="quarter" idx="4"/>
          </p:nvPr>
        </p:nvSpPr>
        <p:spPr/>
        <p:txBody>
          <a:bodyPr/>
          <a:lstStyle/>
          <a:p>
            <a:fld id="{5075537C-CA84-1446-933C-8E9D027F9201}" type="slidenum">
              <a:rPr lang="en-US" smtClean="0"/>
              <a:t>24</a:t>
            </a:fld>
            <a:endParaRPr lang="en-US"/>
          </a:p>
        </p:txBody>
      </p:sp>
    </p:spTree>
    <p:extLst>
      <p:ext uri="{BB962C8B-B14F-4D97-AF65-F5344CB8AC3E}">
        <p14:creationId xmlns:p14="http://schemas.microsoft.com/office/powerpoint/2010/main" val="463645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918F41-388B-9F49-B083-9363E48C4D6D}"/>
              </a:ext>
            </a:extLst>
          </p:cNvPr>
          <p:cNvSpPr>
            <a:spLocks noGrp="1"/>
          </p:cNvSpPr>
          <p:nvPr>
            <p:ph type="title"/>
          </p:nvPr>
        </p:nvSpPr>
        <p:spPr/>
        <p:txBody>
          <a:bodyPr/>
          <a:lstStyle/>
          <a:p>
            <a:r>
              <a:rPr lang="en-US" dirty="0"/>
              <a:t>Predictive analysis</a:t>
            </a:r>
          </a:p>
        </p:txBody>
      </p:sp>
      <p:sp>
        <p:nvSpPr>
          <p:cNvPr id="5" name="Text Placeholder 4">
            <a:extLst>
              <a:ext uri="{FF2B5EF4-FFF2-40B4-BE49-F238E27FC236}">
                <a16:creationId xmlns:a16="http://schemas.microsoft.com/office/drawing/2014/main" id="{1FACB35F-F761-AD43-A90D-CCA232A9EE9C}"/>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14FDC8F1-F98E-B74A-AFE7-5BAA1319DEFF}"/>
              </a:ext>
            </a:extLst>
          </p:cNvPr>
          <p:cNvSpPr>
            <a:spLocks noGrp="1"/>
          </p:cNvSpPr>
          <p:nvPr>
            <p:ph type="sldNum" sz="quarter" idx="4"/>
          </p:nvPr>
        </p:nvSpPr>
        <p:spPr/>
        <p:txBody>
          <a:bodyPr/>
          <a:lstStyle/>
          <a:p>
            <a:fld id="{5075537C-CA84-1446-933C-8E9D027F9201}" type="slidenum">
              <a:rPr lang="en-US" smtClean="0"/>
              <a:t>25</a:t>
            </a:fld>
            <a:endParaRPr lang="en-US"/>
          </a:p>
        </p:txBody>
      </p:sp>
    </p:spTree>
    <p:extLst>
      <p:ext uri="{BB962C8B-B14F-4D97-AF65-F5344CB8AC3E}">
        <p14:creationId xmlns:p14="http://schemas.microsoft.com/office/powerpoint/2010/main" val="1290394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6AA8-EBEF-5C40-A8EA-9C70243211B5}"/>
              </a:ext>
            </a:extLst>
          </p:cNvPr>
          <p:cNvSpPr>
            <a:spLocks noGrp="1"/>
          </p:cNvSpPr>
          <p:nvPr>
            <p:ph type="title"/>
          </p:nvPr>
        </p:nvSpPr>
        <p:spPr/>
        <p:txBody>
          <a:bodyPr>
            <a:normAutofit/>
          </a:bodyPr>
          <a:lstStyle/>
          <a:p>
            <a:r>
              <a:rPr lang="en-US" dirty="0"/>
              <a:t>Ranked coefficients</a:t>
            </a:r>
          </a:p>
        </p:txBody>
      </p:sp>
      <p:pic>
        <p:nvPicPr>
          <p:cNvPr id="7" name="Picture Placeholder 6">
            <a:extLst>
              <a:ext uri="{FF2B5EF4-FFF2-40B4-BE49-F238E27FC236}">
                <a16:creationId xmlns:a16="http://schemas.microsoft.com/office/drawing/2014/main" id="{BCA37373-3BE4-7C63-65BE-5753BBBCA0CC}"/>
              </a:ext>
            </a:extLst>
          </p:cNvPr>
          <p:cNvPicPr>
            <a:picLocks noGrp="1" noChangeAspect="1"/>
          </p:cNvPicPr>
          <p:nvPr>
            <p:ph type="pic" idx="1"/>
          </p:nvPr>
        </p:nvPicPr>
        <p:blipFill>
          <a:blip r:embed="rId2"/>
          <a:srcRect t="5875" b="5875"/>
          <a:stretch/>
        </p:blipFill>
        <p:spPr>
          <a:prstGeom prst="rect">
            <a:avLst/>
          </a:prstGeom>
        </p:spPr>
      </p:pic>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2"/>
          </p:nvPr>
        </p:nvSpPr>
        <p:spPr/>
        <p:txBody>
          <a:bodyPr>
            <a:normAutofit/>
          </a:bodyPr>
          <a:lstStyle/>
          <a:p>
            <a:r>
              <a:rPr lang="en-US" dirty="0"/>
              <a:t>This ranked coefficients bar chart shows which variables had the biggest effect on bike rentals.</a:t>
            </a:r>
          </a:p>
          <a:p>
            <a:r>
              <a:rPr lang="en-US" dirty="0"/>
              <a:t>From this chart, we can see that Temperature and evening hours generally had the largest positive correlation to bike rentals, where rainfall and humidity had the largest negative correlations to bike rentals.</a:t>
            </a:r>
          </a:p>
          <a:p>
            <a:endParaRPr lang="en-US" dirty="0"/>
          </a:p>
        </p:txBody>
      </p:sp>
      <p:sp>
        <p:nvSpPr>
          <p:cNvPr id="4" name="Slide Number Placeholder 3">
            <a:extLst>
              <a:ext uri="{FF2B5EF4-FFF2-40B4-BE49-F238E27FC236}">
                <a16:creationId xmlns:a16="http://schemas.microsoft.com/office/drawing/2014/main" id="{2A653FF5-A73E-9642-A9AD-7478F728492E}"/>
              </a:ext>
            </a:extLst>
          </p:cNvPr>
          <p:cNvSpPr>
            <a:spLocks noGrp="1"/>
          </p:cNvSpPr>
          <p:nvPr>
            <p:ph type="sldNum" sz="quarter" idx="4"/>
          </p:nvPr>
        </p:nvSpPr>
        <p:spPr/>
        <p:txBody>
          <a:bodyPr/>
          <a:lstStyle/>
          <a:p>
            <a:fld id="{5075537C-CA84-1446-933C-8E9D027F9201}" type="slidenum">
              <a:rPr lang="en-US" smtClean="0"/>
              <a:t>26</a:t>
            </a:fld>
            <a:endParaRPr lang="en-US"/>
          </a:p>
        </p:txBody>
      </p:sp>
    </p:spTree>
    <p:extLst>
      <p:ext uri="{BB962C8B-B14F-4D97-AF65-F5344CB8AC3E}">
        <p14:creationId xmlns:p14="http://schemas.microsoft.com/office/powerpoint/2010/main" val="1064416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83A94-3B89-8A4A-AB23-2FC7E475F5CC}"/>
              </a:ext>
            </a:extLst>
          </p:cNvPr>
          <p:cNvSpPr>
            <a:spLocks noGrp="1"/>
          </p:cNvSpPr>
          <p:nvPr>
            <p:ph type="title"/>
          </p:nvPr>
        </p:nvSpPr>
        <p:spPr/>
        <p:txBody>
          <a:bodyPr/>
          <a:lstStyle/>
          <a:p>
            <a:r>
              <a:rPr lang="en-US" dirty="0"/>
              <a:t>Find the best performing model	</a:t>
            </a:r>
          </a:p>
        </p:txBody>
      </p:sp>
      <p:sp>
        <p:nvSpPr>
          <p:cNvPr id="3" name="Content Placeholder 2">
            <a:extLst>
              <a:ext uri="{FF2B5EF4-FFF2-40B4-BE49-F238E27FC236}">
                <a16:creationId xmlns:a16="http://schemas.microsoft.com/office/drawing/2014/main" id="{4C5E34C5-C497-6442-B752-99A5D43F53C2}"/>
              </a:ext>
            </a:extLst>
          </p:cNvPr>
          <p:cNvSpPr>
            <a:spLocks noGrp="1"/>
          </p:cNvSpPr>
          <p:nvPr>
            <p:ph idx="1"/>
          </p:nvPr>
        </p:nvSpPr>
        <p:spPr/>
        <p:txBody>
          <a:bodyPr>
            <a:normAutofit/>
          </a:bodyPr>
          <a:lstStyle/>
          <a:p>
            <a:r>
              <a:rPr lang="en-US" dirty="0"/>
              <a:t>The best performing model tested was the Lasso regression model</a:t>
            </a:r>
          </a:p>
          <a:p>
            <a:r>
              <a:rPr lang="en-US" dirty="0"/>
              <a:t>The model had a RMSE of 364 and an R2 of 0.669</a:t>
            </a:r>
          </a:p>
        </p:txBody>
      </p:sp>
      <p:sp>
        <p:nvSpPr>
          <p:cNvPr id="5" name="Slide Number Placeholder 4">
            <a:extLst>
              <a:ext uri="{FF2B5EF4-FFF2-40B4-BE49-F238E27FC236}">
                <a16:creationId xmlns:a16="http://schemas.microsoft.com/office/drawing/2014/main" id="{A3DFCE24-BC6D-2E49-A733-732F5F9F390E}"/>
              </a:ext>
            </a:extLst>
          </p:cNvPr>
          <p:cNvSpPr>
            <a:spLocks noGrp="1"/>
          </p:cNvSpPr>
          <p:nvPr>
            <p:ph type="sldNum" sz="quarter" idx="4"/>
          </p:nvPr>
        </p:nvSpPr>
        <p:spPr/>
        <p:txBody>
          <a:bodyPr/>
          <a:lstStyle/>
          <a:p>
            <a:fld id="{5075537C-CA84-1446-933C-8E9D027F9201}" type="slidenum">
              <a:rPr lang="en-US" smtClean="0"/>
              <a:t>27</a:t>
            </a:fld>
            <a:endParaRPr lang="en-US"/>
          </a:p>
        </p:txBody>
      </p:sp>
      <p:pic>
        <p:nvPicPr>
          <p:cNvPr id="6" name="Picture 5">
            <a:extLst>
              <a:ext uri="{FF2B5EF4-FFF2-40B4-BE49-F238E27FC236}">
                <a16:creationId xmlns:a16="http://schemas.microsoft.com/office/drawing/2014/main" id="{906E396B-8E91-8028-0F58-08D3D227DE57}"/>
              </a:ext>
            </a:extLst>
          </p:cNvPr>
          <p:cNvPicPr>
            <a:picLocks noChangeAspect="1"/>
          </p:cNvPicPr>
          <p:nvPr/>
        </p:nvPicPr>
        <p:blipFill>
          <a:blip r:embed="rId2"/>
          <a:stretch>
            <a:fillRect/>
          </a:stretch>
        </p:blipFill>
        <p:spPr>
          <a:xfrm>
            <a:off x="1258078" y="3740937"/>
            <a:ext cx="2543417" cy="1426375"/>
          </a:xfrm>
          <a:prstGeom prst="rect">
            <a:avLst/>
          </a:prstGeom>
        </p:spPr>
      </p:pic>
    </p:spTree>
    <p:extLst>
      <p:ext uri="{BB962C8B-B14F-4D97-AF65-F5344CB8AC3E}">
        <p14:creationId xmlns:p14="http://schemas.microsoft.com/office/powerpoint/2010/main" val="3943059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83A94-3B89-8A4A-AB23-2FC7E475F5CC}"/>
              </a:ext>
            </a:extLst>
          </p:cNvPr>
          <p:cNvSpPr>
            <a:spLocks noGrp="1"/>
          </p:cNvSpPr>
          <p:nvPr>
            <p:ph type="title"/>
          </p:nvPr>
        </p:nvSpPr>
        <p:spPr/>
        <p:txBody>
          <a:bodyPr>
            <a:normAutofit/>
          </a:bodyPr>
          <a:lstStyle/>
          <a:p>
            <a:r>
              <a:rPr lang="en-US" dirty="0"/>
              <a:t>Q-Q plot of the best model</a:t>
            </a:r>
          </a:p>
        </p:txBody>
      </p:sp>
      <p:pic>
        <p:nvPicPr>
          <p:cNvPr id="7" name="Picture Placeholder 6">
            <a:extLst>
              <a:ext uri="{FF2B5EF4-FFF2-40B4-BE49-F238E27FC236}">
                <a16:creationId xmlns:a16="http://schemas.microsoft.com/office/drawing/2014/main" id="{E4532A48-1ADA-76F7-3AFC-C4233EBAB043}"/>
              </a:ext>
            </a:extLst>
          </p:cNvPr>
          <p:cNvPicPr>
            <a:picLocks noGrp="1" noChangeAspect="1"/>
          </p:cNvPicPr>
          <p:nvPr>
            <p:ph type="pic" idx="1"/>
          </p:nvPr>
        </p:nvPicPr>
        <p:blipFill>
          <a:blip r:embed="rId2"/>
          <a:srcRect t="8986" b="8986"/>
          <a:stretch/>
        </p:blipFill>
        <p:spPr>
          <a:prstGeom prst="rect">
            <a:avLst/>
          </a:prstGeom>
        </p:spPr>
      </p:pic>
      <p:sp>
        <p:nvSpPr>
          <p:cNvPr id="3" name="Content Placeholder 2">
            <a:extLst>
              <a:ext uri="{FF2B5EF4-FFF2-40B4-BE49-F238E27FC236}">
                <a16:creationId xmlns:a16="http://schemas.microsoft.com/office/drawing/2014/main" id="{4C5E34C5-C497-6442-B752-99A5D43F53C2}"/>
              </a:ext>
            </a:extLst>
          </p:cNvPr>
          <p:cNvSpPr>
            <a:spLocks noGrp="1"/>
          </p:cNvSpPr>
          <p:nvPr>
            <p:ph type="body" sz="half" idx="2"/>
          </p:nvPr>
        </p:nvSpPr>
        <p:spPr/>
        <p:txBody>
          <a:bodyPr/>
          <a:lstStyle/>
          <a:p>
            <a:endParaRPr lang="en-US" dirty="0"/>
          </a:p>
        </p:txBody>
      </p:sp>
      <p:sp>
        <p:nvSpPr>
          <p:cNvPr id="5" name="Slide Number Placeholder 4">
            <a:extLst>
              <a:ext uri="{FF2B5EF4-FFF2-40B4-BE49-F238E27FC236}">
                <a16:creationId xmlns:a16="http://schemas.microsoft.com/office/drawing/2014/main" id="{8195E48F-F367-1549-BB9D-5093A029404C}"/>
              </a:ext>
            </a:extLst>
          </p:cNvPr>
          <p:cNvSpPr>
            <a:spLocks noGrp="1"/>
          </p:cNvSpPr>
          <p:nvPr>
            <p:ph type="sldNum" sz="quarter" idx="4"/>
          </p:nvPr>
        </p:nvSpPr>
        <p:spPr/>
        <p:txBody>
          <a:bodyPr/>
          <a:lstStyle/>
          <a:p>
            <a:fld id="{5075537C-CA84-1446-933C-8E9D027F9201}" type="slidenum">
              <a:rPr lang="en-US" smtClean="0"/>
              <a:t>28</a:t>
            </a:fld>
            <a:endParaRPr lang="en-US"/>
          </a:p>
        </p:txBody>
      </p:sp>
    </p:spTree>
    <p:extLst>
      <p:ext uri="{BB962C8B-B14F-4D97-AF65-F5344CB8AC3E}">
        <p14:creationId xmlns:p14="http://schemas.microsoft.com/office/powerpoint/2010/main" val="2808747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918F41-388B-9F49-B083-9363E48C4D6D}"/>
              </a:ext>
            </a:extLst>
          </p:cNvPr>
          <p:cNvSpPr>
            <a:spLocks noGrp="1"/>
          </p:cNvSpPr>
          <p:nvPr>
            <p:ph type="title"/>
          </p:nvPr>
        </p:nvSpPr>
        <p:spPr/>
        <p:txBody>
          <a:bodyPr/>
          <a:lstStyle/>
          <a:p>
            <a:r>
              <a:rPr lang="en-US" dirty="0"/>
              <a:t>Dashboard</a:t>
            </a:r>
          </a:p>
        </p:txBody>
      </p:sp>
      <p:sp>
        <p:nvSpPr>
          <p:cNvPr id="5" name="Text Placeholder 4">
            <a:extLst>
              <a:ext uri="{FF2B5EF4-FFF2-40B4-BE49-F238E27FC236}">
                <a16:creationId xmlns:a16="http://schemas.microsoft.com/office/drawing/2014/main" id="{1FACB35F-F761-AD43-A90D-CCA232A9EE9C}"/>
              </a:ext>
            </a:extLst>
          </p:cNvPr>
          <p:cNvSpPr>
            <a:spLocks noGrp="1"/>
          </p:cNvSpPr>
          <p:nvPr>
            <p:ph type="body" idx="1"/>
          </p:nvPr>
        </p:nvSpPr>
        <p:spPr/>
        <p:txBody>
          <a:bodyPr/>
          <a:lstStyle/>
          <a:p>
            <a:endParaRPr lang="en-US" dirty="0"/>
          </a:p>
        </p:txBody>
      </p:sp>
      <p:sp>
        <p:nvSpPr>
          <p:cNvPr id="3" name="Slide Number Placeholder 2">
            <a:extLst>
              <a:ext uri="{FF2B5EF4-FFF2-40B4-BE49-F238E27FC236}">
                <a16:creationId xmlns:a16="http://schemas.microsoft.com/office/drawing/2014/main" id="{10F812A6-4516-F247-8209-04C1F1C9D1D5}"/>
              </a:ext>
            </a:extLst>
          </p:cNvPr>
          <p:cNvSpPr>
            <a:spLocks noGrp="1"/>
          </p:cNvSpPr>
          <p:nvPr>
            <p:ph type="sldNum" sz="quarter" idx="4"/>
          </p:nvPr>
        </p:nvSpPr>
        <p:spPr/>
        <p:txBody>
          <a:bodyPr/>
          <a:lstStyle/>
          <a:p>
            <a:fld id="{5075537C-CA84-1446-933C-8E9D027F9201}" type="slidenum">
              <a:rPr lang="en-US" smtClean="0"/>
              <a:t>29</a:t>
            </a:fld>
            <a:endParaRPr lang="en-US"/>
          </a:p>
        </p:txBody>
      </p:sp>
    </p:spTree>
    <p:extLst>
      <p:ext uri="{BB962C8B-B14F-4D97-AF65-F5344CB8AC3E}">
        <p14:creationId xmlns:p14="http://schemas.microsoft.com/office/powerpoint/2010/main" val="1023352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5F3B9A-D9F5-884E-AFE5-77CA0D65D031}"/>
              </a:ext>
            </a:extLst>
          </p:cNvPr>
          <p:cNvSpPr>
            <a:spLocks noGrp="1"/>
          </p:cNvSpPr>
          <p:nvPr>
            <p:ph type="title"/>
          </p:nvPr>
        </p:nvSpPr>
        <p:spPr/>
        <p:txBody>
          <a:bodyPr>
            <a:normAutofit/>
          </a:bodyPr>
          <a:lstStyle/>
          <a:p>
            <a:r>
              <a:rPr lang="en-US" sz="3600" dirty="0"/>
              <a:t>Main page of Bike-sharing demand app</a:t>
            </a:r>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1"/>
          </p:nvPr>
        </p:nvSpPr>
        <p:spPr>
          <a:xfrm>
            <a:off x="838200" y="1690688"/>
            <a:ext cx="3407229" cy="4351338"/>
          </a:xfrm>
        </p:spPr>
        <p:txBody>
          <a:bodyPr/>
          <a:lstStyle/>
          <a:p>
            <a:r>
              <a:rPr lang="en-US" dirty="0"/>
              <a:t>This shows the main page of the bike-sharing application dashboard.</a:t>
            </a:r>
          </a:p>
          <a:p>
            <a:r>
              <a:rPr lang="en-US" dirty="0"/>
              <a:t>It shows the specific cities, as well as a dropdown on the right hand side to select a specific city</a:t>
            </a:r>
          </a:p>
        </p:txBody>
      </p:sp>
      <p:sp>
        <p:nvSpPr>
          <p:cNvPr id="3" name="Slide Number Placeholder 2">
            <a:extLst>
              <a:ext uri="{FF2B5EF4-FFF2-40B4-BE49-F238E27FC236}">
                <a16:creationId xmlns:a16="http://schemas.microsoft.com/office/drawing/2014/main" id="{C79977AE-309C-AC49-B15B-7A372153314E}"/>
              </a:ext>
            </a:extLst>
          </p:cNvPr>
          <p:cNvSpPr>
            <a:spLocks noGrp="1"/>
          </p:cNvSpPr>
          <p:nvPr>
            <p:ph type="sldNum" sz="quarter" idx="4"/>
          </p:nvPr>
        </p:nvSpPr>
        <p:spPr/>
        <p:txBody>
          <a:bodyPr/>
          <a:lstStyle/>
          <a:p>
            <a:fld id="{5075537C-CA84-1446-933C-8E9D027F9201}" type="slidenum">
              <a:rPr lang="en-US" smtClean="0"/>
              <a:t>30</a:t>
            </a:fld>
            <a:endParaRPr lang="en-US"/>
          </a:p>
        </p:txBody>
      </p:sp>
      <p:pic>
        <p:nvPicPr>
          <p:cNvPr id="6" name="Picture 5">
            <a:extLst>
              <a:ext uri="{FF2B5EF4-FFF2-40B4-BE49-F238E27FC236}">
                <a16:creationId xmlns:a16="http://schemas.microsoft.com/office/drawing/2014/main" id="{4A343726-2129-EE2F-78A2-AD359A7ECF63}"/>
              </a:ext>
            </a:extLst>
          </p:cNvPr>
          <p:cNvPicPr>
            <a:picLocks noChangeAspect="1"/>
          </p:cNvPicPr>
          <p:nvPr/>
        </p:nvPicPr>
        <p:blipFill>
          <a:blip r:embed="rId2"/>
          <a:stretch>
            <a:fillRect/>
          </a:stretch>
        </p:blipFill>
        <p:spPr>
          <a:xfrm>
            <a:off x="4320073" y="1690688"/>
            <a:ext cx="7871927" cy="3959030"/>
          </a:xfrm>
          <a:prstGeom prst="rect">
            <a:avLst/>
          </a:prstGeom>
        </p:spPr>
      </p:pic>
    </p:spTree>
    <p:extLst>
      <p:ext uri="{BB962C8B-B14F-4D97-AF65-F5344CB8AC3E}">
        <p14:creationId xmlns:p14="http://schemas.microsoft.com/office/powerpoint/2010/main" val="3393580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5F3B9A-D9F5-884E-AFE5-77CA0D65D031}"/>
              </a:ext>
            </a:extLst>
          </p:cNvPr>
          <p:cNvSpPr>
            <a:spLocks noGrp="1"/>
          </p:cNvSpPr>
          <p:nvPr>
            <p:ph type="title"/>
          </p:nvPr>
        </p:nvSpPr>
        <p:spPr/>
        <p:txBody>
          <a:bodyPr/>
          <a:lstStyle/>
          <a:p>
            <a:r>
              <a:rPr lang="en-US" dirty="0"/>
              <a:t>Bike-sharing demand: Seoul</a:t>
            </a:r>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1"/>
          </p:nvPr>
        </p:nvSpPr>
        <p:spPr>
          <a:xfrm>
            <a:off x="838200" y="1690688"/>
            <a:ext cx="4872134" cy="4351338"/>
          </a:xfrm>
        </p:spPr>
        <p:txBody>
          <a:bodyPr>
            <a:normAutofit/>
          </a:bodyPr>
          <a:lstStyle/>
          <a:p>
            <a:r>
              <a:rPr lang="en-US" dirty="0"/>
              <a:t>This is a screenshot of the bike sharing demand from Seoul.</a:t>
            </a:r>
          </a:p>
          <a:p>
            <a:r>
              <a:rPr lang="en-US" dirty="0"/>
              <a:t>It has a map of the city, along with trend lines showing the temperature trend, demand trend, and humidity vs. bike prediction.</a:t>
            </a:r>
          </a:p>
          <a:p>
            <a:endParaRPr lang="en-US" dirty="0"/>
          </a:p>
        </p:txBody>
      </p:sp>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4"/>
          </p:nvPr>
        </p:nvSpPr>
        <p:spPr/>
        <p:txBody>
          <a:bodyPr/>
          <a:lstStyle/>
          <a:p>
            <a:fld id="{5075537C-CA84-1446-933C-8E9D027F9201}" type="slidenum">
              <a:rPr lang="en-US" smtClean="0"/>
              <a:t>31</a:t>
            </a:fld>
            <a:endParaRPr lang="en-US"/>
          </a:p>
        </p:txBody>
      </p:sp>
      <p:pic>
        <p:nvPicPr>
          <p:cNvPr id="6" name="Picture 5">
            <a:extLst>
              <a:ext uri="{FF2B5EF4-FFF2-40B4-BE49-F238E27FC236}">
                <a16:creationId xmlns:a16="http://schemas.microsoft.com/office/drawing/2014/main" id="{A7E0FAF2-E840-4DD7-CBBB-D25C534FB6B5}"/>
              </a:ext>
            </a:extLst>
          </p:cNvPr>
          <p:cNvPicPr>
            <a:picLocks noChangeAspect="1"/>
          </p:cNvPicPr>
          <p:nvPr/>
        </p:nvPicPr>
        <p:blipFill>
          <a:blip r:embed="rId2"/>
          <a:stretch>
            <a:fillRect/>
          </a:stretch>
        </p:blipFill>
        <p:spPr>
          <a:xfrm>
            <a:off x="5710334" y="2270739"/>
            <a:ext cx="6481665" cy="3191236"/>
          </a:xfrm>
          <a:prstGeom prst="rect">
            <a:avLst/>
          </a:prstGeom>
        </p:spPr>
      </p:pic>
    </p:spTree>
    <p:extLst>
      <p:ext uri="{BB962C8B-B14F-4D97-AF65-F5344CB8AC3E}">
        <p14:creationId xmlns:p14="http://schemas.microsoft.com/office/powerpoint/2010/main" val="981671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5F3B9A-D9F5-884E-AFE5-77CA0D65D031}"/>
              </a:ext>
            </a:extLst>
          </p:cNvPr>
          <p:cNvSpPr>
            <a:spLocks noGrp="1"/>
          </p:cNvSpPr>
          <p:nvPr>
            <p:ph type="title"/>
          </p:nvPr>
        </p:nvSpPr>
        <p:spPr/>
        <p:txBody>
          <a:bodyPr/>
          <a:lstStyle/>
          <a:p>
            <a:r>
              <a:rPr lang="en-US" dirty="0"/>
              <a:t>Bike-sharing demand: Paris</a:t>
            </a:r>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1"/>
          </p:nvPr>
        </p:nvSpPr>
        <p:spPr>
          <a:xfrm>
            <a:off x="838200" y="1690688"/>
            <a:ext cx="4246984" cy="4351338"/>
          </a:xfrm>
        </p:spPr>
        <p:txBody>
          <a:bodyPr>
            <a:normAutofit/>
          </a:bodyPr>
          <a:lstStyle/>
          <a:p>
            <a:r>
              <a:rPr lang="en-US" dirty="0"/>
              <a:t>This is a similar screenshot showing bike-sharing demand in Paris.</a:t>
            </a:r>
          </a:p>
          <a:p>
            <a:r>
              <a:rPr lang="en-US" dirty="0"/>
              <a:t>It contains the same tables on the right; temperature trend, demand trend, and humidity vs bike rental prediction</a:t>
            </a:r>
          </a:p>
          <a:p>
            <a:endParaRPr lang="en-US" dirty="0"/>
          </a:p>
        </p:txBody>
      </p:sp>
      <p:sp>
        <p:nvSpPr>
          <p:cNvPr id="3" name="Slide Number Placeholder 2">
            <a:extLst>
              <a:ext uri="{FF2B5EF4-FFF2-40B4-BE49-F238E27FC236}">
                <a16:creationId xmlns:a16="http://schemas.microsoft.com/office/drawing/2014/main" id="{1B0540D3-DDDE-4144-9FF0-E6F9944E7152}"/>
              </a:ext>
            </a:extLst>
          </p:cNvPr>
          <p:cNvSpPr>
            <a:spLocks noGrp="1"/>
          </p:cNvSpPr>
          <p:nvPr>
            <p:ph type="sldNum" sz="quarter" idx="4"/>
          </p:nvPr>
        </p:nvSpPr>
        <p:spPr/>
        <p:txBody>
          <a:bodyPr/>
          <a:lstStyle/>
          <a:p>
            <a:fld id="{5075537C-CA84-1446-933C-8E9D027F9201}" type="slidenum">
              <a:rPr lang="en-US" smtClean="0"/>
              <a:t>32</a:t>
            </a:fld>
            <a:endParaRPr lang="en-US"/>
          </a:p>
        </p:txBody>
      </p:sp>
      <p:pic>
        <p:nvPicPr>
          <p:cNvPr id="6" name="Picture 5">
            <a:extLst>
              <a:ext uri="{FF2B5EF4-FFF2-40B4-BE49-F238E27FC236}">
                <a16:creationId xmlns:a16="http://schemas.microsoft.com/office/drawing/2014/main" id="{7D22E617-BA36-788B-29B7-3BE2F52DD77E}"/>
              </a:ext>
            </a:extLst>
          </p:cNvPr>
          <p:cNvPicPr>
            <a:picLocks noChangeAspect="1"/>
          </p:cNvPicPr>
          <p:nvPr/>
        </p:nvPicPr>
        <p:blipFill>
          <a:blip r:embed="rId2"/>
          <a:stretch>
            <a:fillRect/>
          </a:stretch>
        </p:blipFill>
        <p:spPr>
          <a:xfrm>
            <a:off x="5206482" y="2005012"/>
            <a:ext cx="6985518" cy="3452102"/>
          </a:xfrm>
          <a:prstGeom prst="rect">
            <a:avLst/>
          </a:prstGeom>
        </p:spPr>
      </p:pic>
    </p:spTree>
    <p:extLst>
      <p:ext uri="{BB962C8B-B14F-4D97-AF65-F5344CB8AC3E}">
        <p14:creationId xmlns:p14="http://schemas.microsoft.com/office/powerpoint/2010/main" val="1885057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838200" y="365125"/>
            <a:ext cx="10515600" cy="1325563"/>
          </a:xfrm>
        </p:spPr>
        <p:txBody>
          <a:bodyPr anchor="ctr">
            <a:normAutofit/>
          </a:bodyPr>
          <a:lstStyle/>
          <a:p>
            <a:r>
              <a:rPr lang="en-US" dirty="0"/>
              <a:t>CONCLUSION</a:t>
            </a:r>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2"/>
          </p:nvPr>
        </p:nvSpPr>
        <p:spPr>
          <a:xfrm>
            <a:off x="4544291" y="1825625"/>
            <a:ext cx="6809509" cy="4351338"/>
          </a:xfrm>
        </p:spPr>
        <p:txBody>
          <a:bodyPr/>
          <a:lstStyle/>
          <a:p>
            <a:r>
              <a:rPr lang="en-US" dirty="0"/>
              <a:t>Demand for bike sharing is highest in the summer months when the temperatures are warmest and it is not snowing</a:t>
            </a:r>
          </a:p>
          <a:p>
            <a:r>
              <a:rPr lang="en-US" dirty="0"/>
              <a:t>Rentals are generally most popular during evening hours between 1700-2200.</a:t>
            </a:r>
          </a:p>
        </p:txBody>
      </p:sp>
      <p:pic>
        <p:nvPicPr>
          <p:cNvPr id="6" name="Content Placeholder 5">
            <a:extLst>
              <a:ext uri="{FF2B5EF4-FFF2-40B4-BE49-F238E27FC236}">
                <a16:creationId xmlns:a16="http://schemas.microsoft.com/office/drawing/2014/main" id="{5E013141-2139-434F-83AB-CF1C80A7AC4A}"/>
              </a:ext>
            </a:extLst>
          </p:cNvPr>
          <p:cNvPicPr>
            <a:picLocks noGrp="1" noChangeAspect="1"/>
          </p:cNvPicPr>
          <p:nvPr>
            <p:ph sz="half" idx="1"/>
          </p:nvPr>
        </p:nvPicPr>
        <p:blipFill>
          <a:blip r:embed="rId2"/>
          <a:stretch>
            <a:fillRect/>
          </a:stretch>
        </p:blipFill>
        <p:spPr>
          <a:xfrm>
            <a:off x="1125967" y="2113896"/>
            <a:ext cx="3054361" cy="3054361"/>
          </a:xfrm>
          <a:prstGeom prst="rect">
            <a:avLst/>
          </a:prstGeom>
        </p:spPr>
      </p:pic>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4"/>
          </p:nvPr>
        </p:nvSpPr>
        <p:spPr/>
        <p:txBody>
          <a:bodyPr/>
          <a:lstStyle/>
          <a:p>
            <a:fld id="{5075537C-CA84-1446-933C-8E9D027F9201}" type="slidenum">
              <a:rPr lang="en-US" smtClean="0"/>
              <a:t>33</a:t>
            </a:fld>
            <a:endParaRPr lang="en-US"/>
          </a:p>
        </p:txBody>
      </p:sp>
    </p:spTree>
    <p:extLst>
      <p:ext uri="{BB962C8B-B14F-4D97-AF65-F5344CB8AC3E}">
        <p14:creationId xmlns:p14="http://schemas.microsoft.com/office/powerpoint/2010/main" val="1630123617"/>
      </p:ext>
    </p:extLst>
  </p:cSld>
  <p:clrMapOvr>
    <a:masterClrMapping/>
  </p:clrMapOvr>
</p:sld>
</file>

<file path=ppt/theme/theme1.xml><?xml version="1.0" encoding="utf-8"?>
<a:theme xmlns:a="http://schemas.openxmlformats.org/drawingml/2006/main" name="SLIDE_TEMPLATE_skill_network">
  <a:themeElements>
    <a:clrScheme name="IBM CAD">
      <a:dk1>
        <a:srgbClr val="005493"/>
      </a:dk1>
      <a:lt1>
        <a:srgbClr val="4472C4"/>
      </a:lt1>
      <a:dk2>
        <a:srgbClr val="1C1C1C"/>
      </a:dk2>
      <a:lt2>
        <a:srgbClr val="FFFFFF"/>
      </a:lt2>
      <a:accent1>
        <a:srgbClr val="00B0F0"/>
      </a:accent1>
      <a:accent2>
        <a:srgbClr val="FF0000"/>
      </a:accent2>
      <a:accent3>
        <a:srgbClr val="F2F2F2"/>
      </a:accent3>
      <a:accent4>
        <a:srgbClr val="FFFFFF"/>
      </a:accent4>
      <a:accent5>
        <a:srgbClr val="FFFFFF"/>
      </a:accent5>
      <a:accent6>
        <a:srgbClr val="FFFFFF"/>
      </a:accent6>
      <a:hlink>
        <a:srgbClr val="FFFFFF"/>
      </a:hlink>
      <a:folHlink>
        <a:srgbClr val="FF0000"/>
      </a:folHlink>
    </a:clrScheme>
    <a:fontScheme name="IBM CAD">
      <a:majorFont>
        <a:latin typeface="IBM Plex Mono SemiBold"/>
        <a:ea typeface=""/>
        <a:cs typeface=""/>
      </a:majorFont>
      <a:minorFont>
        <a:latin typeface="IBM Plex Mono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s-r-capstone-template" id="{20AE7CCB-5FE8-BD43-B8DB-E6C0FDEE3675}" vid="{8C2F4096-8635-6345-AFEA-626992B70A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4DA07C5-A406-4A0D-B3E6-3856C94AC7F3}">
  <ds:schemaRefs>
    <ds:schemaRef ds:uri="http://purl.org/dc/terms/"/>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http://schemas.microsoft.com/office/2006/metadata/properties"/>
    <ds:schemaRef ds:uri="f80a141d-92ca-4d3d-9308-f7e7b1d44ce8"/>
    <ds:schemaRef ds:uri="155be751-a274-42e8-93fb-f39d3b9bccc8"/>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SLIDE_TEMPLATE_skill_network</Template>
  <TotalTime>157</TotalTime>
  <Words>1088</Words>
  <Application>Microsoft Office PowerPoint</Application>
  <PresentationFormat>Widescreen</PresentationFormat>
  <Paragraphs>157</Paragraphs>
  <Slides>33</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IBM Plex Mono SemiBold</vt:lpstr>
      <vt:lpstr>IBM Plex Mono Text</vt:lpstr>
      <vt:lpstr>SLIDE_TEMPLATE_skill_network</vt:lpstr>
      <vt:lpstr>Applied Data Science with R Capstone project</vt:lpstr>
      <vt:lpstr>Outline</vt:lpstr>
      <vt:lpstr>Executive Summary</vt:lpstr>
      <vt:lpstr>Introduction</vt:lpstr>
      <vt:lpstr>Methodology</vt:lpstr>
      <vt:lpstr>Methodology</vt:lpstr>
      <vt:lpstr>Data collection</vt:lpstr>
      <vt:lpstr>Data wrangling</vt:lpstr>
      <vt:lpstr>EDA with SQL</vt:lpstr>
      <vt:lpstr>EDA with data visualization</vt:lpstr>
      <vt:lpstr>Predictive analysis</vt:lpstr>
      <vt:lpstr>Build a R Shiny dashboard</vt:lpstr>
      <vt:lpstr>Results</vt:lpstr>
      <vt:lpstr>EDA with SQL</vt:lpstr>
      <vt:lpstr>Busiest bike rental times</vt:lpstr>
      <vt:lpstr>Hourly popularity and temperature by seasons</vt:lpstr>
      <vt:lpstr>Rental Seasonality</vt:lpstr>
      <vt:lpstr>Weather Seasonality</vt:lpstr>
      <vt:lpstr>Bike-sharing info in Seoul</vt:lpstr>
      <vt:lpstr>Cities similar to Seoul</vt:lpstr>
      <vt:lpstr>EDA with Visualization</vt:lpstr>
      <vt:lpstr>Bike rental vs. Date</vt:lpstr>
      <vt:lpstr>Bike rental vs. Datetime</vt:lpstr>
      <vt:lpstr>Bike rental histogram</vt:lpstr>
      <vt:lpstr>Predictive analysis</vt:lpstr>
      <vt:lpstr>Ranked coefficients</vt:lpstr>
      <vt:lpstr>Find the best performing model </vt:lpstr>
      <vt:lpstr>Q-Q plot of the best model</vt:lpstr>
      <vt:lpstr>Dashboard</vt:lpstr>
      <vt:lpstr>Main page of Bike-sharing demand app</vt:lpstr>
      <vt:lpstr>Bike-sharing demand: Seoul</vt:lpstr>
      <vt:lpstr>Bike-sharing demand: Paris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Devin Guigley</cp:lastModifiedBy>
  <cp:revision>128</cp:revision>
  <dcterms:created xsi:type="dcterms:W3CDTF">2021-04-29T18:58:34Z</dcterms:created>
  <dcterms:modified xsi:type="dcterms:W3CDTF">2026-04-21T15:21:05Z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